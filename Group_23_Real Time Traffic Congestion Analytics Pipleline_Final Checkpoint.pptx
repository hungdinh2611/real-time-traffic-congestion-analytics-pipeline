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8" r:id="rId4"/>
  </p:sldMasterIdLst>
  <p:notesMasterIdLst>
    <p:notesMasterId r:id="rId34"/>
  </p:notesMasterIdLst>
  <p:handoutMasterIdLst>
    <p:handoutMasterId r:id="rId35"/>
  </p:handoutMasterIdLst>
  <p:sldIdLst>
    <p:sldId id="275" r:id="rId5"/>
    <p:sldId id="257" r:id="rId6"/>
    <p:sldId id="283" r:id="rId7"/>
    <p:sldId id="312" r:id="rId8"/>
    <p:sldId id="299" r:id="rId9"/>
    <p:sldId id="313" r:id="rId10"/>
    <p:sldId id="314" r:id="rId11"/>
    <p:sldId id="316" r:id="rId12"/>
    <p:sldId id="317" r:id="rId13"/>
    <p:sldId id="315" r:id="rId14"/>
    <p:sldId id="318" r:id="rId15"/>
    <p:sldId id="319" r:id="rId16"/>
    <p:sldId id="320" r:id="rId17"/>
    <p:sldId id="321" r:id="rId18"/>
    <p:sldId id="322" r:id="rId19"/>
    <p:sldId id="325" r:id="rId20"/>
    <p:sldId id="323" r:id="rId21"/>
    <p:sldId id="324" r:id="rId22"/>
    <p:sldId id="326" r:id="rId23"/>
    <p:sldId id="327" r:id="rId24"/>
    <p:sldId id="328" r:id="rId25"/>
    <p:sldId id="329" r:id="rId26"/>
    <p:sldId id="330" r:id="rId27"/>
    <p:sldId id="331" r:id="rId28"/>
    <p:sldId id="332" r:id="rId29"/>
    <p:sldId id="333" r:id="rId30"/>
    <p:sldId id="334" r:id="rId31"/>
    <p:sldId id="335" r:id="rId32"/>
    <p:sldId id="269" r:id="rId3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14A69919-4487-FB90-BED0-262F341F70BA}" name="Tran Thi Tuong Van 20225590" initials="TV" userId="S::Van.TTT225590@sis.hust.edu.vn::df8ca69f-bdc8-45c4-979e-09c76938602d" providerId="AD"/>
  <p188:author id="{2B9FD6C4-BF4E-7505-A654-B0EB8B2403DF}" name="Người dùng Khách" initials="NK" userId="S::urn:spo:anon#c55d31259653aa09a5d87c3967e47341bdbb5f8879ba81da257f98780363c5f8::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BF203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14DE612-EBF9-C534-7186-8808A8A6B2BB}" v="6" dt="2025-11-08T02:49:31.93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1594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tableStyles" Target="tableStyles.xml"/><Relationship Id="rId21" Type="http://schemas.openxmlformats.org/officeDocument/2006/relationships/slide" Target="slides/slide17.xml"/><Relationship Id="rId34" Type="http://schemas.openxmlformats.org/officeDocument/2006/relationships/notesMaster" Target="notesMasters/notesMaster1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41" Type="http://schemas.microsoft.com/office/2018/10/relationships/authors" Target="author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viewProps" Target="viewProps.xml"/><Relationship Id="rId40" Type="http://schemas.microsoft.com/office/2015/10/relationships/revisionInfo" Target="revisionInfo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handoutMaster" Target="handoutMasters/handoutMaster1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A5EAC724-B034-4F10-A9E8-56851A79B809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20872BB-3892-4F66-9266-36ADB83FAD5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8B45424-6BAC-416C-8F6C-5F9DE854A36B}" type="datetimeFigureOut">
              <a:rPr lang="en-US" smtClean="0"/>
              <a:t>12/28/2025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ACA138F-B9BA-4997-B3C2-DA8B17B6D5B9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EE86FBF-0AC4-4904-8ED7-0BD6E9AC71D6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E34D737-83BD-4FDE-8CF3-8BC01E7FC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9073744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B733702-C25A-40B9-9167-54BAA79B29B0}" type="datetimeFigureOut">
              <a:rPr lang="en-US" smtClean="0"/>
              <a:t>12/28/2025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B2FC7A4-3D1B-482D-8C9D-7642A2CE30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1926534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ustom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159802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264949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Section Header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30FC03-A82E-4B34-AE4B-8AC40A0CD5B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6565257"/>
            <a:ext cx="20574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F70EAA40-3A53-4A3D-924A-D38F1059C7D5}" type="datetime1">
              <a:rPr lang="en-US" smtClean="0"/>
              <a:pPr/>
              <a:t>12/28/2025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49FB7E-C73B-452D-861A-6C73FF59EC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6565257"/>
            <a:ext cx="30861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A5733BD-32DD-483E-A597-B70529CBDA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867383" y="6572126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Title 6">
            <a:extLst>
              <a:ext uri="{FF2B5EF4-FFF2-40B4-BE49-F238E27FC236}">
                <a16:creationId xmlns:a16="http://schemas.microsoft.com/office/drawing/2014/main" id="{44DCE4FD-DEE1-4DE9-A40E-616ACEB2FEC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35077" y="78613"/>
            <a:ext cx="8673846" cy="451739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/>
              <a:t>Title 1: ………………………………………</a:t>
            </a:r>
          </a:p>
        </p:txBody>
      </p:sp>
      <p:sp>
        <p:nvSpPr>
          <p:cNvPr id="11" name="Content Placeholder 8">
            <a:extLst>
              <a:ext uri="{FF2B5EF4-FFF2-40B4-BE49-F238E27FC236}">
                <a16:creationId xmlns:a16="http://schemas.microsoft.com/office/drawing/2014/main" id="{90DFCEB3-810D-48E5-B7BA-1A6C924A64A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235077" y="841247"/>
            <a:ext cx="8674100" cy="5303393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8675470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wo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Date Placeholder 3">
            <a:extLst>
              <a:ext uri="{FF2B5EF4-FFF2-40B4-BE49-F238E27FC236}">
                <a16:creationId xmlns:a16="http://schemas.microsoft.com/office/drawing/2014/main" id="{1D2FCDAA-D1AE-440A-ADEA-98F1ACB0647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6565257"/>
            <a:ext cx="20574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F70EAA40-3A53-4A3D-924A-D38F1059C7D5}" type="datetime1">
              <a:rPr lang="en-US" smtClean="0"/>
              <a:pPr/>
              <a:t>12/28/2025</a:t>
            </a:fld>
            <a:endParaRPr lang="en-US"/>
          </a:p>
        </p:txBody>
      </p:sp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C4186984-389F-440C-BD79-8D1349BD85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6565257"/>
            <a:ext cx="30861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/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5C66723D-7FE6-462E-9733-48764D89B1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867383" y="6572126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03483232-D29A-4255-9149-0177F878581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28828" y="1423289"/>
            <a:ext cx="3886200" cy="4351338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8" name="Content Placeholder 3">
            <a:extLst>
              <a:ext uri="{FF2B5EF4-FFF2-40B4-BE49-F238E27FC236}">
                <a16:creationId xmlns:a16="http://schemas.microsoft.com/office/drawing/2014/main" id="{A1BAF8AD-67D8-46AD-A292-05589E82734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572000" y="1423289"/>
            <a:ext cx="3886200" cy="4351338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9" name="Title 6">
            <a:extLst>
              <a:ext uri="{FF2B5EF4-FFF2-40B4-BE49-F238E27FC236}">
                <a16:creationId xmlns:a16="http://schemas.microsoft.com/office/drawing/2014/main" id="{EFD61387-9809-4E21-B8EA-93815E5E8F6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35077" y="78613"/>
            <a:ext cx="8673846" cy="451739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/>
              <a:t>Title 4: ………………………………………</a:t>
            </a:r>
          </a:p>
        </p:txBody>
      </p:sp>
    </p:spTree>
    <p:extLst>
      <p:ext uri="{BB962C8B-B14F-4D97-AF65-F5344CB8AC3E}">
        <p14:creationId xmlns:p14="http://schemas.microsoft.com/office/powerpoint/2010/main" val="13534025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Blank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6">
            <a:extLst>
              <a:ext uri="{FF2B5EF4-FFF2-40B4-BE49-F238E27FC236}">
                <a16:creationId xmlns:a16="http://schemas.microsoft.com/office/drawing/2014/main" id="{74BADCE4-794A-4B69-9AB7-3D794A1F9A4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35077" y="78613"/>
            <a:ext cx="8673846" cy="451739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/>
              <a:t>Title 6: ………………………………………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38375D86-D290-4003-A314-C916116C423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95884" y="1533017"/>
            <a:ext cx="3886200" cy="4351338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Content Placeholder 3">
            <a:extLst>
              <a:ext uri="{FF2B5EF4-FFF2-40B4-BE49-F238E27FC236}">
                <a16:creationId xmlns:a16="http://schemas.microsoft.com/office/drawing/2014/main" id="{FB62406B-26DB-4A01-B048-1F2C7540F82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39056" y="1533017"/>
            <a:ext cx="3886200" cy="4351338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Date Placeholder 3">
            <a:extLst>
              <a:ext uri="{FF2B5EF4-FFF2-40B4-BE49-F238E27FC236}">
                <a16:creationId xmlns:a16="http://schemas.microsoft.com/office/drawing/2014/main" id="{A52862E5-D8E1-49BF-8D1B-BF0ED6579EA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6565257"/>
            <a:ext cx="20574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chemeClr val="accent1">
                    <a:lumMod val="50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F70EAA40-3A53-4A3D-924A-D38F1059C7D5}" type="datetime1">
              <a:rPr lang="en-US" smtClean="0"/>
              <a:pPr/>
              <a:t>12/28/2025</a:t>
            </a:fld>
            <a:endParaRPr lang="en-US"/>
          </a:p>
        </p:txBody>
      </p:sp>
      <p:sp>
        <p:nvSpPr>
          <p:cNvPr id="17" name="Footer Placeholder 4">
            <a:extLst>
              <a:ext uri="{FF2B5EF4-FFF2-40B4-BE49-F238E27FC236}">
                <a16:creationId xmlns:a16="http://schemas.microsoft.com/office/drawing/2014/main" id="{591AAF74-01FB-49A8-9375-959140F1D0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6565257"/>
            <a:ext cx="30861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chemeClr val="accent1">
                    <a:lumMod val="50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/>
          </a:p>
        </p:txBody>
      </p:sp>
      <p:sp>
        <p:nvSpPr>
          <p:cNvPr id="18" name="Slide Number Placeholder 5">
            <a:extLst>
              <a:ext uri="{FF2B5EF4-FFF2-40B4-BE49-F238E27FC236}">
                <a16:creationId xmlns:a16="http://schemas.microsoft.com/office/drawing/2014/main" id="{BBF4BC2F-980C-499D-A4B9-E7CD3D4475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867383" y="6572126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chemeClr val="accent1">
                    <a:lumMod val="50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85406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ompariso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007929A3-17ED-41F3-AD36-819BC9DFBCB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6565257"/>
            <a:ext cx="20574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F70EAA40-3A53-4A3D-924A-D38F1059C7D5}" type="datetime1">
              <a:rPr lang="en-US" smtClean="0"/>
              <a:pPr/>
              <a:t>12/28/2025</a:t>
            </a:fld>
            <a:endParaRPr lang="en-US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4973EE95-672F-4E5A-A918-2F51DB2C3A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6565257"/>
            <a:ext cx="30861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2B17F6F6-0CA3-4D52-AA3D-7CF8ADE793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867383" y="6572126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Title 6">
            <a:extLst>
              <a:ext uri="{FF2B5EF4-FFF2-40B4-BE49-F238E27FC236}">
                <a16:creationId xmlns:a16="http://schemas.microsoft.com/office/drawing/2014/main" id="{943CD72D-5295-43E4-B175-0EA61084ADC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35077" y="78613"/>
            <a:ext cx="8673846" cy="451739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/>
              <a:t>Title 7: ………………………………………</a:t>
            </a:r>
          </a:p>
        </p:txBody>
      </p:sp>
      <p:sp>
        <p:nvSpPr>
          <p:cNvPr id="16" name="Text Placeholder 11">
            <a:extLst>
              <a:ext uri="{FF2B5EF4-FFF2-40B4-BE49-F238E27FC236}">
                <a16:creationId xmlns:a16="http://schemas.microsoft.com/office/drawing/2014/main" id="{0C9A3A79-B187-4A33-8EBB-92ECD8BA3C5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34950" y="1227550"/>
            <a:ext cx="8674100" cy="4868449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2342310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Blank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6">
            <a:extLst>
              <a:ext uri="{FF2B5EF4-FFF2-40B4-BE49-F238E27FC236}">
                <a16:creationId xmlns:a16="http://schemas.microsoft.com/office/drawing/2014/main" id="{74BADCE4-794A-4B69-9AB7-3D794A1F9A4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35077" y="78613"/>
            <a:ext cx="8673846" cy="451739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/>
              <a:t>Title 8: ………………………………………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38375D86-D290-4003-A314-C916116C423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95884" y="1533017"/>
            <a:ext cx="3886200" cy="4351338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Content Placeholder 3">
            <a:extLst>
              <a:ext uri="{FF2B5EF4-FFF2-40B4-BE49-F238E27FC236}">
                <a16:creationId xmlns:a16="http://schemas.microsoft.com/office/drawing/2014/main" id="{FB62406B-26DB-4A01-B048-1F2C7540F82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39056" y="1533017"/>
            <a:ext cx="3886200" cy="4351338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Date Placeholder 3">
            <a:extLst>
              <a:ext uri="{FF2B5EF4-FFF2-40B4-BE49-F238E27FC236}">
                <a16:creationId xmlns:a16="http://schemas.microsoft.com/office/drawing/2014/main" id="{A52862E5-D8E1-49BF-8D1B-BF0ED6579EA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6565257"/>
            <a:ext cx="20574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F70EAA40-3A53-4A3D-924A-D38F1059C7D5}" type="datetime1">
              <a:rPr lang="en-US" smtClean="0"/>
              <a:pPr/>
              <a:t>12/28/2025</a:t>
            </a:fld>
            <a:endParaRPr lang="en-US"/>
          </a:p>
        </p:txBody>
      </p:sp>
      <p:sp>
        <p:nvSpPr>
          <p:cNvPr id="17" name="Footer Placeholder 4">
            <a:extLst>
              <a:ext uri="{FF2B5EF4-FFF2-40B4-BE49-F238E27FC236}">
                <a16:creationId xmlns:a16="http://schemas.microsoft.com/office/drawing/2014/main" id="{591AAF74-01FB-49A8-9375-959140F1D0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6565257"/>
            <a:ext cx="30861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/>
          </a:p>
        </p:txBody>
      </p:sp>
      <p:sp>
        <p:nvSpPr>
          <p:cNvPr id="18" name="Slide Number Placeholder 5">
            <a:extLst>
              <a:ext uri="{FF2B5EF4-FFF2-40B4-BE49-F238E27FC236}">
                <a16:creationId xmlns:a16="http://schemas.microsoft.com/office/drawing/2014/main" id="{BBF4BC2F-980C-499D-A4B9-E7CD3D4475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867383" y="6572126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90188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ompariso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007929A3-17ED-41F3-AD36-819BC9DFBCB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6565257"/>
            <a:ext cx="20574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F70EAA40-3A53-4A3D-924A-D38F1059C7D5}" type="datetime1">
              <a:rPr lang="en-US" smtClean="0"/>
              <a:pPr/>
              <a:t>12/28/2025</a:t>
            </a:fld>
            <a:endParaRPr lang="en-US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4973EE95-672F-4E5A-A918-2F51DB2C3A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6565257"/>
            <a:ext cx="30861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2B17F6F6-0CA3-4D52-AA3D-7CF8ADE793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867383" y="6572126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Title 6">
            <a:extLst>
              <a:ext uri="{FF2B5EF4-FFF2-40B4-BE49-F238E27FC236}">
                <a16:creationId xmlns:a16="http://schemas.microsoft.com/office/drawing/2014/main" id="{943CD72D-5295-43E4-B175-0EA61084ADC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35077" y="78613"/>
            <a:ext cx="8673846" cy="451739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/>
              <a:t>Title 9: ………………………………………</a:t>
            </a:r>
          </a:p>
        </p:txBody>
      </p:sp>
      <p:sp>
        <p:nvSpPr>
          <p:cNvPr id="16" name="Text Placeholder 11">
            <a:extLst>
              <a:ext uri="{FF2B5EF4-FFF2-40B4-BE49-F238E27FC236}">
                <a16:creationId xmlns:a16="http://schemas.microsoft.com/office/drawing/2014/main" id="{0C9A3A79-B187-4A33-8EBB-92ECD8BA3C5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34950" y="1164920"/>
            <a:ext cx="8674100" cy="4931079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6664829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Content with Captio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76EAE966-F590-4BAF-A55B-75735FCC661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6565257"/>
            <a:ext cx="20574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chemeClr val="bg1">
                    <a:lumMod val="95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F70EAA40-3A53-4A3D-924A-D38F1059C7D5}" type="datetime1">
              <a:rPr lang="en-US" smtClean="0"/>
              <a:pPr/>
              <a:t>12/28/2025</a:t>
            </a:fld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C330CA1C-4366-43E8-9DC8-B360FC115A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6565257"/>
            <a:ext cx="30861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72DB13F6-9193-4FE2-AE85-5B96248CC0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867383" y="6572126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70462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1.png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198952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0" r:id="rId1"/>
    <p:sldLayoutId id="2147483672" r:id="rId2"/>
    <p:sldLayoutId id="2147483673" r:id="rId3"/>
    <p:sldLayoutId id="2147483683" r:id="rId4"/>
    <p:sldLayoutId id="2147483679" r:id="rId5"/>
    <p:sldLayoutId id="2147483680" r:id="rId6"/>
    <p:sldLayoutId id="2147483681" r:id="rId7"/>
    <p:sldLayoutId id="2147483682" r:id="rId8"/>
    <p:sldLayoutId id="2147483678" r:id="rId9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8208645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3">
            <a:extLst>
              <a:ext uri="{FF2B5EF4-FFF2-40B4-BE49-F238E27FC236}">
                <a16:creationId xmlns:a16="http://schemas.microsoft.com/office/drawing/2014/main" id="{67FB4AA9-E9AF-4CE0-A0DC-99D79528900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13012" y="398419"/>
            <a:ext cx="2037225" cy="611594"/>
          </a:xfrm>
          <a:prstGeom prst="rect">
            <a:avLst/>
          </a:prstGeom>
        </p:spPr>
      </p:pic>
      <p:sp>
        <p:nvSpPr>
          <p:cNvPr id="11" name="Title 6">
            <a:extLst>
              <a:ext uri="{FF2B5EF4-FFF2-40B4-BE49-F238E27FC236}">
                <a16:creationId xmlns:a16="http://schemas.microsoft.com/office/drawing/2014/main" id="{FF8BDF70-CFA6-4031-86B7-31F910D8115D}"/>
              </a:ext>
            </a:extLst>
          </p:cNvPr>
          <p:cNvSpPr txBox="1">
            <a:spLocks/>
          </p:cNvSpPr>
          <p:nvPr/>
        </p:nvSpPr>
        <p:spPr>
          <a:xfrm>
            <a:off x="206533" y="1851697"/>
            <a:ext cx="7796924" cy="2230063"/>
          </a:xfrm>
          <a:prstGeom prst="rect">
            <a:avLst/>
          </a:prstGeom>
        </p:spPr>
        <p:txBody>
          <a:bodyPr lIns="91440" tIns="45720" rIns="91440" bIns="45720" anchor="t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400" b="1" kern="1200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Real-Time Traffic Congestion Analytics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5C85D2B-ED24-1CC6-2BEB-5B22C88E4897}"/>
              </a:ext>
            </a:extLst>
          </p:cNvPr>
          <p:cNvSpPr txBox="1"/>
          <p:nvPr/>
        </p:nvSpPr>
        <p:spPr>
          <a:xfrm>
            <a:off x="206533" y="4522840"/>
            <a:ext cx="3431401" cy="1754326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dirty="0"/>
              <a:t>Do Dinh Hoang – 20225445</a:t>
            </a:r>
          </a:p>
          <a:p>
            <a:r>
              <a:rPr lang="en-US" dirty="0"/>
              <a:t>Dinh Bao Hung – 20225446</a:t>
            </a:r>
          </a:p>
          <a:p>
            <a:r>
              <a:rPr lang="en-US" dirty="0"/>
              <a:t>Tran Quang Huy – 20225500</a:t>
            </a:r>
          </a:p>
          <a:p>
            <a:r>
              <a:rPr lang="en-US" dirty="0"/>
              <a:t>Trinh Huynh Son – 20225526</a:t>
            </a:r>
          </a:p>
          <a:p>
            <a:r>
              <a:rPr lang="en-US" dirty="0"/>
              <a:t>Tran Nam Tuan Vuong – 20225540 </a:t>
            </a:r>
            <a:endParaRPr lang="en-US" dirty="0">
              <a:ea typeface="Calibri"/>
              <a:cs typeface="Calibri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4317291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7101F79-2CBF-4392-B538-B0B5700DB4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3</a:t>
            </a:fld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9EF27CAA-32BA-4E6B-B8C0-1A481E08E8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1. Introduction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9563378-38F8-4CB3-AF99-2C56FCF5540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252296" y="967706"/>
            <a:ext cx="8674100" cy="2663953"/>
          </a:xfrm>
        </p:spPr>
        <p:txBody>
          <a:bodyPr lIns="91440" tIns="45720" rIns="91440" bIns="45720" anchor="t"/>
          <a:lstStyle/>
          <a:p>
            <a:pPr marL="0" indent="0">
              <a:buNone/>
            </a:pPr>
            <a:r>
              <a:rPr lang="en-US" sz="2000" b="1" dirty="0">
                <a:latin typeface="Arial"/>
                <a:cs typeface="Arial"/>
              </a:rPr>
              <a:t>1.1. Context &amp; Motivation:</a:t>
            </a:r>
          </a:p>
          <a:p>
            <a:r>
              <a:rPr lang="en-US" sz="2000" dirty="0">
                <a:latin typeface="Arial"/>
                <a:cs typeface="Arial"/>
              </a:rPr>
              <a:t>Urban traffic congestion increases with urbanization.</a:t>
            </a:r>
          </a:p>
          <a:p>
            <a:r>
              <a:rPr lang="en-US" sz="2000" dirty="0">
                <a:latin typeface="Arial"/>
                <a:cs typeface="Arial"/>
              </a:rPr>
              <a:t>Traffic data characteristics:</a:t>
            </a:r>
          </a:p>
          <a:p>
            <a:pPr lvl="1">
              <a:buFontTx/>
              <a:buChar char="-"/>
            </a:pPr>
            <a:r>
              <a:rPr lang="en-US" sz="2000" dirty="0">
                <a:latin typeface="Arial"/>
                <a:cs typeface="Arial"/>
              </a:rPr>
              <a:t>High velocity (near real-time) </a:t>
            </a:r>
          </a:p>
          <a:p>
            <a:pPr lvl="1">
              <a:buFontTx/>
              <a:buChar char="-"/>
            </a:pPr>
            <a:r>
              <a:rPr lang="en-US" sz="2000" dirty="0">
                <a:latin typeface="Arial"/>
                <a:cs typeface="Arial"/>
              </a:rPr>
              <a:t>Continuous time-series IoT sensors generate massive streaming data.</a:t>
            </a:r>
          </a:p>
          <a:p>
            <a:pPr marL="0" indent="0">
              <a:buNone/>
            </a:pPr>
            <a:r>
              <a:rPr lang="en-US" sz="2000" b="1" dirty="0"/>
              <a:t>→ </a:t>
            </a:r>
            <a:r>
              <a:rPr lang="en-US" sz="2000" dirty="0">
                <a:latin typeface="Arial"/>
                <a:cs typeface="Arial"/>
              </a:rPr>
              <a:t>Need Big Data storage + processing instead of traditional systems.</a:t>
            </a:r>
          </a:p>
          <a:p>
            <a:pPr marL="0" indent="0">
              <a:buNone/>
            </a:pPr>
            <a:r>
              <a:rPr lang="en-US" sz="2000" b="1" dirty="0">
                <a:latin typeface="Arial"/>
                <a:cs typeface="Arial"/>
              </a:rPr>
              <a:t>1.2. Problem Statement:</a:t>
            </a:r>
          </a:p>
          <a:p>
            <a:r>
              <a:rPr lang="en-US" sz="2000" dirty="0">
                <a:latin typeface="Arial"/>
                <a:cs typeface="Arial"/>
              </a:rPr>
              <a:t>Current traffic systems: reactive, rely on historical/static data.</a:t>
            </a:r>
          </a:p>
          <a:p>
            <a:r>
              <a:rPr lang="en-US" sz="2000" dirty="0">
                <a:latin typeface="Arial"/>
                <a:cs typeface="Arial"/>
              </a:rPr>
              <a:t>Big Data challenges: high-frequency ingestion, storage efficiency, real-time analytics.</a:t>
            </a:r>
          </a:p>
          <a:p>
            <a:r>
              <a:rPr lang="en-US" sz="2000" dirty="0">
                <a:latin typeface="Arial"/>
                <a:cs typeface="Arial"/>
              </a:rPr>
              <a:t>Difficulty in combining: streaming data, predictive processing. </a:t>
            </a:r>
          </a:p>
          <a:p>
            <a:pPr marL="0" indent="0">
              <a:buNone/>
            </a:pPr>
            <a:endParaRPr lang="en-US" sz="2400" dirty="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8560741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5366EA-CE12-3019-ED47-76E84DC8E3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CF48AFA-3A27-9167-8D8C-E00AA4D9DC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4</a:t>
            </a:fld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F68C887B-01A0-0228-F9B4-44249E338E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1. Introduction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3E8093E-BD9E-1086-94E7-E84C1DA7664B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252296" y="967706"/>
            <a:ext cx="8674100" cy="2663953"/>
          </a:xfrm>
        </p:spPr>
        <p:txBody>
          <a:bodyPr lIns="91440" tIns="45720" rIns="91440" bIns="45720" anchor="t"/>
          <a:lstStyle/>
          <a:p>
            <a:pPr marL="0" indent="0">
              <a:buNone/>
            </a:pPr>
            <a:r>
              <a:rPr lang="en-US" sz="2000" b="1" dirty="0">
                <a:latin typeface="Arial"/>
                <a:cs typeface="Arial"/>
              </a:rPr>
              <a:t>1.3. Objective:</a:t>
            </a:r>
          </a:p>
          <a:p>
            <a:r>
              <a:rPr lang="en-US" sz="2000" dirty="0">
                <a:latin typeface="Arial"/>
                <a:cs typeface="Arial"/>
              </a:rPr>
              <a:t>Design a real-time Big Data pipeline for traffic analytics.</a:t>
            </a:r>
          </a:p>
          <a:p>
            <a:r>
              <a:rPr lang="en-US" sz="2000" dirty="0">
                <a:latin typeface="Arial"/>
                <a:cs typeface="Arial"/>
              </a:rPr>
              <a:t>Ensure: scalable storage, efficient batch processing, low-latency stream processing. </a:t>
            </a:r>
          </a:p>
          <a:p>
            <a:r>
              <a:rPr lang="en-US" sz="2000" dirty="0">
                <a:latin typeface="Arial"/>
                <a:cs typeface="Arial"/>
              </a:rPr>
              <a:t>Support: historical reprocessing, predictive analytics, visualization.</a:t>
            </a:r>
          </a:p>
          <a:p>
            <a:pPr marL="0" indent="0">
              <a:buNone/>
            </a:pP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1.4. Technical Challenges:</a:t>
            </a:r>
          </a:p>
          <a:p>
            <a:r>
              <a:rPr lang="en-US" sz="2000" dirty="0">
                <a:latin typeface="Arial"/>
                <a:cs typeface="Arial"/>
              </a:rPr>
              <a:t>High-velocity data ingestion.</a:t>
            </a:r>
          </a:p>
          <a:p>
            <a:r>
              <a:rPr lang="en-US" sz="2000" dirty="0">
                <a:latin typeface="Arial"/>
                <a:cs typeface="Arial"/>
              </a:rPr>
              <a:t>Small file problem in real-time storage.</a:t>
            </a:r>
          </a:p>
          <a:p>
            <a:r>
              <a:rPr lang="en-US" sz="2000" dirty="0">
                <a:latin typeface="Arial"/>
                <a:cs typeface="Arial"/>
              </a:rPr>
              <a:t>Consistency between batch &amp; streaming features.</a:t>
            </a:r>
          </a:p>
          <a:p>
            <a:r>
              <a:rPr lang="en-US" sz="2000" dirty="0">
                <a:latin typeface="Arial"/>
                <a:cs typeface="Arial"/>
              </a:rPr>
              <a:t>Storage formats optimized for analytics.</a:t>
            </a:r>
            <a:endParaRPr lang="en-US" sz="2400" dirty="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61873713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D5693C-8A50-823F-8F5F-11517043FB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BE94936-4FD5-425B-EB80-B5EBDD3B25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5</a:t>
            </a:fld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AE142690-2A6E-D00A-390F-CBF416CE9D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2. Architecture and Design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3D69151-3E2A-DC56-8864-ABA4E65E78DF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252296" y="967706"/>
            <a:ext cx="8674100" cy="2663953"/>
          </a:xfrm>
        </p:spPr>
        <p:txBody>
          <a:bodyPr lIns="91440" tIns="45720" rIns="91440" bIns="45720" anchor="t"/>
          <a:lstStyle/>
          <a:p>
            <a:pPr marL="0" indent="0">
              <a:buNone/>
            </a:pPr>
            <a:r>
              <a:rPr lang="en-US" sz="2200" b="1" i="1" dirty="0">
                <a:latin typeface="Arial" panose="020B0604020202020204" pitchFamily="34" charset="0"/>
                <a:ea typeface="Lato"/>
                <a:cs typeface="Arial" panose="020B0604020202020204" pitchFamily="34" charset="0"/>
              </a:rPr>
              <a:t>2.1. Tech Stack</a:t>
            </a:r>
          </a:p>
          <a:p>
            <a:pPr marL="514350" indent="-514350">
              <a:buFont typeface="+mj-lt"/>
              <a:buAutoNum type="romanLcPeriod"/>
            </a:pPr>
            <a:r>
              <a:rPr lang="en-US" sz="2000" i="1" dirty="0">
                <a:latin typeface="Arial" panose="020B0604020202020204" pitchFamily="34" charset="0"/>
                <a:ea typeface="Lato"/>
                <a:cs typeface="Arial" panose="020B0604020202020204" pitchFamily="34" charset="0"/>
              </a:rPr>
              <a:t>Tech Stack Overview:</a:t>
            </a:r>
          </a:p>
          <a:p>
            <a:pPr lvl="1"/>
            <a:r>
              <a:rPr lang="en-US" sz="1600" dirty="0">
                <a:latin typeface="Arial" panose="020B0604020202020204" pitchFamily="34" charset="0"/>
                <a:ea typeface="Lato"/>
                <a:cs typeface="Arial" panose="020B0604020202020204" pitchFamily="34" charset="0"/>
              </a:rPr>
              <a:t>Objective: Build a Big Data system with scalable storage and processing.</a:t>
            </a:r>
          </a:p>
          <a:p>
            <a:pPr lvl="1"/>
            <a:r>
              <a:rPr lang="en-US" sz="1600" dirty="0">
                <a:latin typeface="Arial" panose="020B0604020202020204" pitchFamily="34" charset="0"/>
                <a:ea typeface="Lato"/>
                <a:cs typeface="Arial" panose="020B0604020202020204" pitchFamily="34" charset="0"/>
              </a:rPr>
              <a:t>Core characteristics:</a:t>
            </a:r>
          </a:p>
          <a:p>
            <a:pPr lvl="2">
              <a:buFontTx/>
              <a:buChar char="-"/>
            </a:pPr>
            <a:r>
              <a:rPr lang="en-US" sz="1600" dirty="0">
                <a:latin typeface="Arial" panose="020B0604020202020204" pitchFamily="34" charset="0"/>
                <a:ea typeface="Lato"/>
                <a:cs typeface="Arial" panose="020B0604020202020204" pitchFamily="34" charset="0"/>
              </a:rPr>
              <a:t>File-based Big Data storage. </a:t>
            </a:r>
          </a:p>
          <a:p>
            <a:pPr lvl="2">
              <a:buFontTx/>
              <a:buChar char="-"/>
            </a:pPr>
            <a:r>
              <a:rPr lang="en-US" sz="1600" dirty="0">
                <a:latin typeface="Arial" panose="020B0604020202020204" pitchFamily="34" charset="0"/>
                <a:ea typeface="Lato"/>
                <a:cs typeface="Arial" panose="020B0604020202020204" pitchFamily="34" charset="0"/>
              </a:rPr>
              <a:t>Batch + Streaming processing.</a:t>
            </a:r>
          </a:p>
          <a:p>
            <a:pPr lvl="2">
              <a:buFontTx/>
              <a:buChar char="-"/>
            </a:pPr>
            <a:r>
              <a:rPr lang="en-US" sz="1600" dirty="0">
                <a:latin typeface="Arial" panose="020B0604020202020204" pitchFamily="34" charset="0"/>
                <a:ea typeface="Lato"/>
                <a:cs typeface="Arial" panose="020B0604020202020204" pitchFamily="34" charset="0"/>
              </a:rPr>
              <a:t>Event-driven architecture.</a:t>
            </a:r>
          </a:p>
          <a:p>
            <a:pPr lvl="2">
              <a:buFontTx/>
              <a:buChar char="-"/>
            </a:pPr>
            <a:r>
              <a:rPr lang="en-US" sz="1600" dirty="0">
                <a:latin typeface="Arial" panose="020B0604020202020204" pitchFamily="34" charset="0"/>
                <a:ea typeface="Lato"/>
                <a:cs typeface="Arial" panose="020B0604020202020204" pitchFamily="34" charset="0"/>
              </a:rPr>
              <a:t>Cloud-ready design.</a:t>
            </a:r>
          </a:p>
          <a:p>
            <a:pPr lvl="1"/>
            <a:r>
              <a:rPr lang="en-US" sz="1600" dirty="0">
                <a:latin typeface="Arial" panose="020B0604020202020204" pitchFamily="34" charset="0"/>
                <a:ea typeface="Lato"/>
                <a:cs typeface="Arial" panose="020B0604020202020204" pitchFamily="34" charset="0"/>
              </a:rPr>
              <a:t>Key Technologies: Apache Kafka, Apache Spark, Apache Parquet, </a:t>
            </a:r>
            <a:r>
              <a:rPr lang="en-US" sz="1600" dirty="0" err="1">
                <a:latin typeface="Arial" panose="020B0604020202020204" pitchFamily="34" charset="0"/>
                <a:ea typeface="Lato"/>
                <a:cs typeface="Arial" panose="020B0604020202020204" pitchFamily="34" charset="0"/>
              </a:rPr>
              <a:t>FastAPI</a:t>
            </a:r>
            <a:r>
              <a:rPr lang="en-US" sz="1600" dirty="0">
                <a:latin typeface="Arial" panose="020B0604020202020204" pitchFamily="34" charset="0"/>
                <a:ea typeface="Lato"/>
                <a:cs typeface="Arial" panose="020B0604020202020204" pitchFamily="34" charset="0"/>
              </a:rPr>
              <a:t>, </a:t>
            </a:r>
            <a:r>
              <a:rPr lang="en-US" sz="1600" dirty="0" err="1">
                <a:latin typeface="Arial" panose="020B0604020202020204" pitchFamily="34" charset="0"/>
                <a:ea typeface="Lato"/>
                <a:cs typeface="Arial" panose="020B0604020202020204" pitchFamily="34" charset="0"/>
              </a:rPr>
              <a:t>Streamlit</a:t>
            </a:r>
            <a:r>
              <a:rPr lang="en-US" sz="1600" dirty="0">
                <a:latin typeface="Arial" panose="020B0604020202020204" pitchFamily="34" charset="0"/>
                <a:ea typeface="Lato"/>
                <a:cs typeface="Arial" panose="020B0604020202020204" pitchFamily="34" charset="0"/>
              </a:rPr>
              <a:t>.</a:t>
            </a:r>
          </a:p>
          <a:p>
            <a:pPr lvl="1"/>
            <a:endParaRPr lang="en-US" sz="1600" dirty="0">
              <a:latin typeface="Arial" panose="020B0604020202020204" pitchFamily="34" charset="0"/>
              <a:ea typeface="Lato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n-US" sz="2000" dirty="0">
              <a:latin typeface="Arial" panose="020B0604020202020204" pitchFamily="34" charset="0"/>
              <a:ea typeface="Lato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2054" name="Picture 6" descr="A black and white logo&#10;&#10;AI-generated content may be incorrect.">
            <a:extLst>
              <a:ext uri="{FF2B5EF4-FFF2-40B4-BE49-F238E27FC236}">
                <a16:creationId xmlns:a16="http://schemas.microsoft.com/office/drawing/2014/main" id="{43BAA12B-14C5-A269-B00D-08110AAE0CB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2296" y="3944105"/>
            <a:ext cx="2513217" cy="12459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00FE2DB8-37E9-8D57-A934-EAA2E3CF53B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45973" y="3944105"/>
            <a:ext cx="2648734" cy="1403829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6579653E-1E11-651B-8BAC-9675389D32A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61502" y="4969481"/>
            <a:ext cx="3834581" cy="1381797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4B5FDA96-FBEB-EDD9-E5D4-EB5A4219157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97850" y="3786222"/>
            <a:ext cx="2399491" cy="140382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00A024E-717C-9AC3-7E02-548A4F492943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43084" y="4605410"/>
            <a:ext cx="2400137" cy="23115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058154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9E0608-7726-F2E5-2CF9-91B3CA8ECB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D041987-B8D7-D4D1-00C3-E3A849ECCB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6</a:t>
            </a:fld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855105FF-44CD-BAFC-DB70-264310C2BA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2. Architecture and Design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32D5358-5867-5FEF-C43B-39033243C00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252296" y="967706"/>
            <a:ext cx="8674100" cy="2663953"/>
          </a:xfrm>
        </p:spPr>
        <p:txBody>
          <a:bodyPr lIns="91440" tIns="45720" rIns="91440" bIns="45720" anchor="t"/>
          <a:lstStyle/>
          <a:p>
            <a:pPr marL="0" indent="0">
              <a:buNone/>
            </a:pPr>
            <a:r>
              <a:rPr lang="en-US" sz="2200" b="1" i="1" dirty="0">
                <a:latin typeface="Arial" panose="020B0604020202020204" pitchFamily="34" charset="0"/>
                <a:ea typeface="Lato"/>
                <a:cs typeface="Arial" panose="020B0604020202020204" pitchFamily="34" charset="0"/>
              </a:rPr>
              <a:t>2.1. Tech Stack</a:t>
            </a:r>
          </a:p>
          <a:p>
            <a:pPr marL="514350" indent="-514350">
              <a:buFont typeface="+mj-lt"/>
              <a:buAutoNum type="romanLcPeriod" startAt="2"/>
            </a:pPr>
            <a:r>
              <a:rPr lang="en-US" sz="2000" i="1" dirty="0">
                <a:latin typeface="Arial" panose="020B0604020202020204" pitchFamily="34" charset="0"/>
                <a:cs typeface="Arial" panose="020B0604020202020204" pitchFamily="34" charset="0"/>
              </a:rPr>
              <a:t>Container Orchestration</a:t>
            </a:r>
            <a:endParaRPr lang="en-US" sz="2000" i="1" dirty="0">
              <a:latin typeface="Arial" panose="020B0604020202020204" pitchFamily="34" charset="0"/>
              <a:ea typeface="Lato"/>
              <a:cs typeface="Arial" panose="020B0604020202020204" pitchFamily="34" charset="0"/>
            </a:endParaRPr>
          </a:p>
          <a:p>
            <a:pPr lvl="1"/>
            <a:r>
              <a:rPr lang="en-US" sz="1800" dirty="0">
                <a:latin typeface="Arial" panose="020B0604020202020204" pitchFamily="34" charset="0"/>
                <a:ea typeface="Lato"/>
                <a:cs typeface="Arial" panose="020B0604020202020204" pitchFamily="34" charset="0"/>
              </a:rPr>
              <a:t>Design Decision:</a:t>
            </a:r>
          </a:p>
          <a:p>
            <a:pPr lvl="2">
              <a:buFontTx/>
              <a:buChar char="-"/>
            </a:pPr>
            <a:r>
              <a:rPr lang="en-US" sz="1800" dirty="0">
                <a:latin typeface="Arial" panose="020B0604020202020204" pitchFamily="34" charset="0"/>
                <a:ea typeface="Lato"/>
                <a:cs typeface="Arial" panose="020B0604020202020204" pitchFamily="34" charset="0"/>
              </a:rPr>
              <a:t>No Kubernetes / Docker Swarm in prototype.</a:t>
            </a:r>
          </a:p>
          <a:p>
            <a:pPr lvl="2">
              <a:buFontTx/>
              <a:buChar char="-"/>
            </a:pPr>
            <a:r>
              <a:rPr lang="en-US" sz="1800" dirty="0">
                <a:latin typeface="Arial" panose="020B0604020202020204" pitchFamily="34" charset="0"/>
                <a:ea typeface="Lato"/>
                <a:cs typeface="Arial" panose="020B0604020202020204" pitchFamily="34" charset="0"/>
              </a:rPr>
              <a:t>Local execution environment.</a:t>
            </a:r>
          </a:p>
          <a:p>
            <a:pPr lvl="1"/>
            <a:r>
              <a:rPr lang="en-US" sz="1800" dirty="0">
                <a:latin typeface="Arial" panose="020B0604020202020204" pitchFamily="34" charset="0"/>
                <a:ea typeface="Lato"/>
                <a:cs typeface="Arial" panose="020B0604020202020204" pitchFamily="34" charset="0"/>
              </a:rPr>
              <a:t>Rationale:</a:t>
            </a:r>
          </a:p>
          <a:p>
            <a:pPr lvl="2">
              <a:buFontTx/>
              <a:buChar char="-"/>
            </a:pPr>
            <a:r>
              <a:rPr lang="en-US" sz="1800" dirty="0">
                <a:latin typeface="Arial" panose="020B0604020202020204" pitchFamily="34" charset="0"/>
                <a:ea typeface="Lato"/>
                <a:cs typeface="Arial" panose="020B0604020202020204" pitchFamily="34" charset="0"/>
              </a:rPr>
              <a:t>Reduce infrastructure overhead.</a:t>
            </a:r>
          </a:p>
          <a:p>
            <a:pPr lvl="2">
              <a:buFontTx/>
              <a:buChar char="-"/>
            </a:pPr>
            <a:r>
              <a:rPr lang="en-US" sz="1800" dirty="0">
                <a:latin typeface="Arial" panose="020B0604020202020204" pitchFamily="34" charset="0"/>
                <a:ea typeface="Lato"/>
                <a:cs typeface="Arial" panose="020B0604020202020204" pitchFamily="34" charset="0"/>
              </a:rPr>
              <a:t>Focus on data processing &amp; storage logic.</a:t>
            </a:r>
          </a:p>
          <a:p>
            <a:pPr lvl="1"/>
            <a:r>
              <a:rPr lang="en-US" sz="1800" dirty="0">
                <a:latin typeface="Arial" panose="020B0604020202020204" pitchFamily="34" charset="0"/>
                <a:ea typeface="Lato"/>
                <a:cs typeface="Arial" panose="020B0604020202020204" pitchFamily="34" charset="0"/>
              </a:rPr>
              <a:t>Architecture:</a:t>
            </a:r>
          </a:p>
          <a:p>
            <a:pPr lvl="2">
              <a:buFontTx/>
              <a:buChar char="-"/>
            </a:pPr>
            <a:r>
              <a:rPr lang="en-US" sz="1800" dirty="0">
                <a:latin typeface="Arial" panose="020B0604020202020204" pitchFamily="34" charset="0"/>
                <a:ea typeface="Lato"/>
                <a:cs typeface="Arial" panose="020B0604020202020204" pitchFamily="34" charset="0"/>
              </a:rPr>
              <a:t>Independent services.</a:t>
            </a:r>
          </a:p>
          <a:p>
            <a:pPr lvl="2">
              <a:buFontTx/>
              <a:buChar char="-"/>
            </a:pPr>
            <a:r>
              <a:rPr lang="en-US" sz="1800" dirty="0">
                <a:latin typeface="Arial" panose="020B0604020202020204" pitchFamily="34" charset="0"/>
                <a:ea typeface="Lato"/>
                <a:cs typeface="Arial" panose="020B0604020202020204" pitchFamily="34" charset="0"/>
              </a:rPr>
              <a:t>Communication via: Kafka topics, REST APIs, Parquet files</a:t>
            </a:r>
            <a:r>
              <a:rPr lang="en-US" sz="1200" dirty="0">
                <a:latin typeface="Arial" panose="020B0604020202020204" pitchFamily="34" charset="0"/>
                <a:ea typeface="Lato"/>
                <a:cs typeface="Arial" panose="020B0604020202020204" pitchFamily="34" charset="0"/>
              </a:rPr>
              <a:t>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46735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C4962F-D879-3F0C-D6A4-5CD0AB1D93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DBAF931-F93B-06EC-49DC-164B112C0B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7</a:t>
            </a:fld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BA51FDF0-B647-70D8-E22B-2FD317C088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2. Architecture and Design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D92FE62-BF30-4971-EDFD-0F6B2DF534D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252296" y="967706"/>
            <a:ext cx="8674100" cy="2663953"/>
          </a:xfrm>
        </p:spPr>
        <p:txBody>
          <a:bodyPr lIns="91440" tIns="45720" rIns="91440" bIns="45720" anchor="t"/>
          <a:lstStyle/>
          <a:p>
            <a:pPr marL="0" indent="0">
              <a:buNone/>
            </a:pPr>
            <a:r>
              <a:rPr lang="en-US" sz="2200" b="1" i="1" dirty="0">
                <a:latin typeface="Arial" panose="020B0604020202020204" pitchFamily="34" charset="0"/>
                <a:ea typeface="Lato"/>
                <a:cs typeface="Arial" panose="020B0604020202020204" pitchFamily="34" charset="0"/>
              </a:rPr>
              <a:t>2.1. Tech Stack</a:t>
            </a:r>
          </a:p>
          <a:p>
            <a:pPr marL="514350" indent="-514350">
              <a:buFont typeface="+mj-lt"/>
              <a:buAutoNum type="romanLcPeriod" startAt="3"/>
            </a:pPr>
            <a:r>
              <a:rPr lang="en-US" sz="2000" i="1" dirty="0">
                <a:latin typeface="Arial" panose="020B0604020202020204" pitchFamily="34" charset="0"/>
                <a:cs typeface="Arial" panose="020B0604020202020204" pitchFamily="34" charset="0"/>
              </a:rPr>
              <a:t>Data Orchestration</a:t>
            </a:r>
            <a:endParaRPr lang="en-US" sz="2000" i="1" dirty="0">
              <a:latin typeface="Arial" panose="020B0604020202020204" pitchFamily="34" charset="0"/>
              <a:ea typeface="Lato"/>
              <a:cs typeface="Arial" panose="020B0604020202020204" pitchFamily="34" charset="0"/>
            </a:endParaRPr>
          </a:p>
          <a:p>
            <a:pPr lvl="1"/>
            <a:r>
              <a:rPr lang="en-US" sz="1800" dirty="0">
                <a:latin typeface="Arial" panose="020B0604020202020204" pitchFamily="34" charset="0"/>
                <a:ea typeface="Lato"/>
                <a:cs typeface="Arial" panose="020B0604020202020204" pitchFamily="34" charset="0"/>
              </a:rPr>
              <a:t>Orchestration Model: Python-based orchestration.</a:t>
            </a:r>
          </a:p>
          <a:p>
            <a:pPr lvl="1"/>
            <a:r>
              <a:rPr lang="en-US" sz="1800" dirty="0">
                <a:latin typeface="Arial" panose="020B0604020202020204" pitchFamily="34" charset="0"/>
                <a:ea typeface="Lato"/>
                <a:cs typeface="Arial" panose="020B0604020202020204" pitchFamily="34" charset="0"/>
              </a:rPr>
              <a:t>Storage-Oriented Design: Medallion Architecture(Bronze Layer, Silver Layer</a:t>
            </a:r>
          </a:p>
          <a:p>
            <a:pPr lvl="1"/>
            <a:r>
              <a:rPr lang="en-US" sz="1800" dirty="0">
                <a:latin typeface="Arial" panose="020B0604020202020204" pitchFamily="34" charset="0"/>
                <a:ea typeface="Lato"/>
                <a:cs typeface="Arial" panose="020B0604020202020204" pitchFamily="34" charset="0"/>
              </a:rPr>
              <a:t>Pipeline Stages </a:t>
            </a:r>
          </a:p>
          <a:p>
            <a:pPr lvl="2">
              <a:buFontTx/>
              <a:buChar char="-"/>
            </a:pPr>
            <a:r>
              <a:rPr lang="en-US" sz="1800" b="1" dirty="0">
                <a:latin typeface="Arial" panose="020B0604020202020204" pitchFamily="34" charset="0"/>
                <a:ea typeface="Lato"/>
                <a:cs typeface="Arial" panose="020B0604020202020204" pitchFamily="34" charset="0"/>
              </a:rPr>
              <a:t>Ingestion &amp; Bronze Layer: </a:t>
            </a:r>
            <a:r>
              <a:rPr lang="en-US" sz="1800" dirty="0">
                <a:latin typeface="Arial" panose="020B0604020202020204" pitchFamily="34" charset="0"/>
                <a:ea typeface="Lato"/>
                <a:cs typeface="Arial" panose="020B0604020202020204" pitchFamily="34" charset="0"/>
              </a:rPr>
              <a:t>Raw traffic data is ingested and stored immutably in Parquet as the system’s raw data source.</a:t>
            </a:r>
          </a:p>
          <a:p>
            <a:pPr lvl="2">
              <a:buFontTx/>
              <a:buChar char="-"/>
            </a:pPr>
            <a:r>
              <a:rPr lang="en-US" sz="1800" b="1" dirty="0">
                <a:latin typeface="Arial" panose="020B0604020202020204" pitchFamily="34" charset="0"/>
                <a:ea typeface="Lato"/>
                <a:cs typeface="Arial" panose="020B0604020202020204" pitchFamily="34" charset="0"/>
              </a:rPr>
              <a:t>Batch ETL &amp; Silver Layer: </a:t>
            </a:r>
            <a:r>
              <a:rPr lang="en-US" sz="1800" dirty="0">
                <a:latin typeface="Arial" panose="020B0604020202020204" pitchFamily="34" charset="0"/>
                <a:ea typeface="Lato"/>
                <a:cs typeface="Arial" panose="020B0604020202020204" pitchFamily="34" charset="0"/>
              </a:rPr>
              <a:t>Historical data is cleaned, transformed, and feature-enriched using Spark, then stored as curated datasets.</a:t>
            </a:r>
          </a:p>
          <a:p>
            <a:pPr lvl="2">
              <a:buFontTx/>
              <a:buChar char="-"/>
            </a:pPr>
            <a:r>
              <a:rPr lang="en-US" sz="1800" b="1" dirty="0">
                <a:latin typeface="Arial" panose="020B0604020202020204" pitchFamily="34" charset="0"/>
                <a:ea typeface="Lato"/>
                <a:cs typeface="Arial" panose="020B0604020202020204" pitchFamily="34" charset="0"/>
              </a:rPr>
              <a:t>Model Training &amp; Versioning: </a:t>
            </a:r>
            <a:r>
              <a:rPr lang="en-US" sz="1800" dirty="0">
                <a:latin typeface="Arial" panose="020B0604020202020204" pitchFamily="34" charset="0"/>
                <a:ea typeface="Lato"/>
                <a:cs typeface="Arial" panose="020B0604020202020204" pitchFamily="34" charset="0"/>
              </a:rPr>
              <a:t>Machine learning models are trained offline from Silver data and serialized as reusable artifacts.</a:t>
            </a:r>
          </a:p>
          <a:p>
            <a:pPr lvl="2">
              <a:buFontTx/>
              <a:buChar char="-"/>
            </a:pPr>
            <a:r>
              <a:rPr lang="en-US" sz="1800" b="1" dirty="0">
                <a:latin typeface="Arial" panose="020B0604020202020204" pitchFamily="34" charset="0"/>
                <a:ea typeface="Lato"/>
                <a:cs typeface="Arial" panose="020B0604020202020204" pitchFamily="34" charset="0"/>
              </a:rPr>
              <a:t>Streaming &amp; Real-Time Inference:</a:t>
            </a:r>
            <a:r>
              <a:rPr lang="en-US" sz="1800" dirty="0">
                <a:latin typeface="Arial" panose="020B0604020202020204" pitchFamily="34" charset="0"/>
                <a:ea typeface="Lato"/>
                <a:cs typeface="Arial" panose="020B0604020202020204" pitchFamily="34" charset="0"/>
              </a:rPr>
              <a:t> Live events are processed with low latency, predictions are generated, and results are sent to visualization..</a:t>
            </a:r>
          </a:p>
          <a:p>
            <a:pPr marL="0" indent="0">
              <a:buNone/>
            </a:pPr>
            <a:endParaRPr lang="en-US" sz="1600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784514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398B57-5E63-5243-E4CA-82FBC30668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D724E01-CD95-8540-B3C3-69E5093F26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8</a:t>
            </a:fld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252CE3EC-2258-FD7C-4CC2-10C9242F42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2. Architecture and Design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0B355A3-16A2-E298-D518-2542B7B1A3F7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252296" y="967706"/>
            <a:ext cx="8674100" cy="2663953"/>
          </a:xfrm>
        </p:spPr>
        <p:txBody>
          <a:bodyPr lIns="91440" tIns="45720" rIns="91440" bIns="45720" anchor="t"/>
          <a:lstStyle/>
          <a:p>
            <a:pPr marL="0" indent="0">
              <a:buNone/>
            </a:pPr>
            <a:r>
              <a:rPr lang="en-US" sz="2200" b="1" i="1" dirty="0">
                <a:latin typeface="Arial" panose="020B0604020202020204" pitchFamily="34" charset="0"/>
                <a:ea typeface="Lato"/>
                <a:cs typeface="Arial" panose="020B0604020202020204" pitchFamily="34" charset="0"/>
              </a:rPr>
              <a:t>2.1. Tech Stack</a:t>
            </a:r>
          </a:p>
          <a:p>
            <a:pPr marL="514350" indent="-514350">
              <a:buFont typeface="+mj-lt"/>
              <a:buAutoNum type="romanLcPeriod" startAt="4"/>
            </a:pPr>
            <a:r>
              <a:rPr lang="en-US" sz="2000" i="1" dirty="0">
                <a:latin typeface="Arial" panose="020B0604020202020204" pitchFamily="34" charset="0"/>
                <a:cs typeface="Arial" panose="020B0604020202020204" pitchFamily="34" charset="0"/>
              </a:rPr>
              <a:t>Data Batch Processing</a:t>
            </a:r>
            <a:endParaRPr lang="en-US" sz="2000" i="1" dirty="0">
              <a:latin typeface="Arial" panose="020B0604020202020204" pitchFamily="34" charset="0"/>
              <a:ea typeface="Lato"/>
              <a:cs typeface="Arial" panose="020B0604020202020204" pitchFamily="34" charset="0"/>
            </a:endParaRPr>
          </a:p>
          <a:p>
            <a:pPr lvl="1"/>
            <a:r>
              <a:rPr lang="en-US" sz="1800" b="1" dirty="0">
                <a:latin typeface="Arial" panose="020B0604020202020204" pitchFamily="34" charset="0"/>
                <a:ea typeface="Lato"/>
                <a:cs typeface="Arial" panose="020B0604020202020204" pitchFamily="34" charset="0"/>
              </a:rPr>
              <a:t>Batch Processing Engine: </a:t>
            </a:r>
            <a:r>
              <a:rPr lang="en-US" sz="1800" dirty="0">
                <a:latin typeface="Arial" panose="020B0604020202020204" pitchFamily="34" charset="0"/>
                <a:ea typeface="Lato"/>
                <a:cs typeface="Arial" panose="020B0604020202020204" pitchFamily="34" charset="0"/>
              </a:rPr>
              <a:t>Apache Spark is used as the core engine for large-scale historical data processing.</a:t>
            </a:r>
          </a:p>
          <a:p>
            <a:pPr lvl="1"/>
            <a:r>
              <a:rPr lang="en-US" sz="1800" b="1" dirty="0">
                <a:latin typeface="Arial" panose="020B0604020202020204" pitchFamily="34" charset="0"/>
                <a:ea typeface="Lato"/>
                <a:cs typeface="Arial" panose="020B0604020202020204" pitchFamily="34" charset="0"/>
              </a:rPr>
              <a:t>Bronze Layer Ingestion: </a:t>
            </a:r>
            <a:r>
              <a:rPr lang="en-US" sz="1800" dirty="0">
                <a:latin typeface="Arial" panose="020B0604020202020204" pitchFamily="34" charset="0"/>
                <a:ea typeface="Lato"/>
                <a:cs typeface="Arial" panose="020B0604020202020204" pitchFamily="34" charset="0"/>
              </a:rPr>
              <a:t>Raw traffic data is read from Parquet files, enabling efficient column-based access.</a:t>
            </a:r>
          </a:p>
          <a:p>
            <a:pPr lvl="1"/>
            <a:r>
              <a:rPr lang="en-US" sz="1800" b="1" dirty="0">
                <a:latin typeface="Arial" panose="020B0604020202020204" pitchFamily="34" charset="0"/>
                <a:ea typeface="Lato"/>
                <a:cs typeface="Arial" panose="020B0604020202020204" pitchFamily="34" charset="0"/>
              </a:rPr>
              <a:t>Data Cleaning &amp; Validation: </a:t>
            </a:r>
            <a:r>
              <a:rPr lang="en-US" sz="1800" dirty="0">
                <a:latin typeface="Arial" panose="020B0604020202020204" pitchFamily="34" charset="0"/>
                <a:ea typeface="Lato"/>
                <a:cs typeface="Arial" panose="020B0604020202020204" pitchFamily="34" charset="0"/>
              </a:rPr>
              <a:t>Null values are removed, timestamps normalized, and data sorted for consistency.</a:t>
            </a:r>
          </a:p>
          <a:p>
            <a:pPr lvl="1"/>
            <a:r>
              <a:rPr lang="en-US" sz="1800" b="1" dirty="0">
                <a:latin typeface="Arial" panose="020B0604020202020204" pitchFamily="34" charset="0"/>
                <a:ea typeface="Lato"/>
                <a:cs typeface="Arial" panose="020B0604020202020204" pitchFamily="34" charset="0"/>
              </a:rPr>
              <a:t>Distributed Feature Engineering: </a:t>
            </a:r>
            <a:r>
              <a:rPr lang="en-US" sz="1800" dirty="0">
                <a:latin typeface="Arial" panose="020B0604020202020204" pitchFamily="34" charset="0"/>
                <a:ea typeface="Lato"/>
                <a:cs typeface="Arial" panose="020B0604020202020204" pitchFamily="34" charset="0"/>
              </a:rPr>
              <a:t>Spark transformations generate temporal and categorical features at scale.</a:t>
            </a:r>
          </a:p>
          <a:p>
            <a:pPr lvl="1"/>
            <a:r>
              <a:rPr lang="en-US" sz="1800" b="1" dirty="0">
                <a:latin typeface="Arial" panose="020B0604020202020204" pitchFamily="34" charset="0"/>
                <a:ea typeface="Lato"/>
                <a:cs typeface="Arial" panose="020B0604020202020204" pitchFamily="34" charset="0"/>
              </a:rPr>
              <a:t>Silver Layer Persistence: </a:t>
            </a:r>
            <a:r>
              <a:rPr lang="en-US" sz="1800" dirty="0">
                <a:latin typeface="Arial" panose="020B0604020202020204" pitchFamily="34" charset="0"/>
                <a:ea typeface="Lato"/>
                <a:cs typeface="Arial" panose="020B0604020202020204" pitchFamily="34" charset="0"/>
              </a:rPr>
              <a:t>Enriched datasets are stored with enforced schema for analytics and ML training.</a:t>
            </a:r>
          </a:p>
          <a:p>
            <a:pPr marL="457200" lvl="1" indent="0">
              <a:buNone/>
            </a:pPr>
            <a:r>
              <a:rPr lang="en-US" sz="1800" b="1" dirty="0">
                <a:latin typeface="Arial" panose="020B0604020202020204" pitchFamily="34" charset="0"/>
                <a:cs typeface="Arial" panose="020B0604020202020204" pitchFamily="34" charset="0"/>
              </a:rPr>
              <a:t>→ 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Batch processing transforms 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raw stored data into structured, analysis-ready datasets.</a:t>
            </a:r>
          </a:p>
        </p:txBody>
      </p:sp>
    </p:spTree>
    <p:extLst>
      <p:ext uri="{BB962C8B-B14F-4D97-AF65-F5344CB8AC3E}">
        <p14:creationId xmlns:p14="http://schemas.microsoft.com/office/powerpoint/2010/main" val="146123839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63D2AE-882C-EAEC-694C-B2374F271F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85BD4A7-AAA1-97F5-122B-4EADB8972A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9</a:t>
            </a:fld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F3A3038C-0155-E781-1B80-6244502308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2. Architecture and Design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F64548F-C5D3-E58F-C230-772F0D52419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252296" y="967706"/>
            <a:ext cx="8674100" cy="2663953"/>
          </a:xfrm>
        </p:spPr>
        <p:txBody>
          <a:bodyPr lIns="91440" tIns="45720" rIns="91440" bIns="45720" anchor="t"/>
          <a:lstStyle/>
          <a:p>
            <a:pPr marL="0" indent="0">
              <a:buNone/>
            </a:pPr>
            <a:r>
              <a:rPr lang="en-US" sz="2200" b="1" i="1" dirty="0">
                <a:latin typeface="Arial" panose="020B0604020202020204" pitchFamily="34" charset="0"/>
                <a:ea typeface="Lato"/>
                <a:cs typeface="Arial" panose="020B0604020202020204" pitchFamily="34" charset="0"/>
              </a:rPr>
              <a:t>2.1. Tech Stack</a:t>
            </a:r>
          </a:p>
          <a:p>
            <a:pPr marL="514350" indent="-514350">
              <a:buFont typeface="+mj-lt"/>
              <a:buAutoNum type="romanLcPeriod" startAt="5"/>
            </a:pPr>
            <a:r>
              <a:rPr lang="en-US" sz="2000" i="1" dirty="0">
                <a:latin typeface="Arial" panose="020B0604020202020204" pitchFamily="34" charset="0"/>
                <a:cs typeface="Arial" panose="020B0604020202020204" pitchFamily="34" charset="0"/>
              </a:rPr>
              <a:t>Ecosystem</a:t>
            </a:r>
            <a:endParaRPr lang="en-US" sz="2000" i="1" dirty="0">
              <a:latin typeface="Arial" panose="020B0604020202020204" pitchFamily="34" charset="0"/>
              <a:ea typeface="Lato"/>
              <a:cs typeface="Arial" panose="020B0604020202020204" pitchFamily="34" charset="0"/>
            </a:endParaRPr>
          </a:p>
          <a:p>
            <a:pPr marL="457200" lvl="1" indent="0">
              <a:buNone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Each ecosystem component is isolated but connected through standardized data interfaces</a:t>
            </a:r>
          </a:p>
          <a:p>
            <a:pPr lvl="1"/>
            <a:r>
              <a:rPr lang="en-US" sz="1800" b="1" dirty="0">
                <a:latin typeface="Arial" panose="020B0604020202020204" pitchFamily="34" charset="0"/>
                <a:cs typeface="Arial" panose="020B0604020202020204" pitchFamily="34" charset="0"/>
              </a:rPr>
              <a:t>Decoupled Architecture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: The system is designed as a modular data engineering ecosystem, not a monolithic application.</a:t>
            </a:r>
          </a:p>
          <a:p>
            <a:pPr lvl="1"/>
            <a:r>
              <a:rPr lang="en-US" sz="1800" b="1" dirty="0">
                <a:latin typeface="Arial" panose="020B0604020202020204" pitchFamily="34" charset="0"/>
                <a:cs typeface="Arial" panose="020B0604020202020204" pitchFamily="34" charset="0"/>
              </a:rPr>
              <a:t>Ingestion &amp; Persistence Layer: 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Raw data is ingested and stored immutably in the Bronze Layer for traceability and replay.</a:t>
            </a:r>
          </a:p>
          <a:p>
            <a:pPr lvl="1"/>
            <a:r>
              <a:rPr lang="en-US" sz="1800" b="1" dirty="0">
                <a:latin typeface="Arial" panose="020B0604020202020204" pitchFamily="34" charset="0"/>
                <a:cs typeface="Arial" panose="020B0604020202020204" pitchFamily="34" charset="0"/>
              </a:rPr>
              <a:t>Unified Processing Layer: 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Batch processing handles historical analytics, while streaming processing supports real-time data.</a:t>
            </a:r>
          </a:p>
          <a:p>
            <a:pPr lvl="1"/>
            <a:r>
              <a:rPr lang="en-US" sz="1800" b="1" dirty="0">
                <a:latin typeface="Arial" panose="020B0604020202020204" pitchFamily="34" charset="0"/>
                <a:cs typeface="Arial" panose="020B0604020202020204" pitchFamily="34" charset="0"/>
              </a:rPr>
              <a:t>ML Lifecycle Integration: 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Refined Silver data flows seamlessly into model training, serialization, and live inference.</a:t>
            </a:r>
          </a:p>
          <a:p>
            <a:pPr lvl="1"/>
            <a:r>
              <a:rPr lang="en-US" sz="1800" b="1" dirty="0">
                <a:latin typeface="Arial" panose="020B0604020202020204" pitchFamily="34" charset="0"/>
                <a:cs typeface="Arial" panose="020B0604020202020204" pitchFamily="34" charset="0"/>
              </a:rPr>
              <a:t>Decoupled Visualization Layer: </a:t>
            </a:r>
            <a:r>
              <a:rPr lang="en-US" sz="1800" dirty="0" err="1">
                <a:latin typeface="Arial" panose="020B0604020202020204" pitchFamily="34" charset="0"/>
                <a:cs typeface="Arial" panose="020B0604020202020204" pitchFamily="34" charset="0"/>
              </a:rPr>
              <a:t>Streamlit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 acts as a consumer-only layer, subscribing to processed data and predictions.</a:t>
            </a:r>
          </a:p>
        </p:txBody>
      </p:sp>
    </p:spTree>
    <p:extLst>
      <p:ext uri="{BB962C8B-B14F-4D97-AF65-F5344CB8AC3E}">
        <p14:creationId xmlns:p14="http://schemas.microsoft.com/office/powerpoint/2010/main" val="80694324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343F92-25F4-95B3-D5FA-B8BF2E4762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F604DB0-36FD-F4DA-F78F-BE2125ACF6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10</a:t>
            </a:fld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730BBD98-E76E-7547-6C5E-4B1A880C08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2. Architecture and Design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5645F16-0781-242F-BCB8-E943FECDEB6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234823" y="887285"/>
            <a:ext cx="8674100" cy="2663953"/>
          </a:xfrm>
        </p:spPr>
        <p:txBody>
          <a:bodyPr lIns="91440" tIns="45720" rIns="91440" bIns="45720" anchor="t"/>
          <a:lstStyle/>
          <a:p>
            <a:pPr marL="0" indent="0">
              <a:buNone/>
            </a:pPr>
            <a:r>
              <a:rPr lang="en-US" sz="2200" b="1" i="1" dirty="0">
                <a:latin typeface="Arial" panose="020B0604020202020204" pitchFamily="34" charset="0"/>
                <a:ea typeface="Lato"/>
                <a:cs typeface="Arial" panose="020B0604020202020204" pitchFamily="34" charset="0"/>
              </a:rPr>
              <a:t>2.1. Tech Stack</a:t>
            </a:r>
          </a:p>
          <a:p>
            <a:pPr marL="514350" indent="-514350">
              <a:buFont typeface="+mj-lt"/>
              <a:buAutoNum type="romanLcPeriod" startAt="5"/>
            </a:pPr>
            <a:r>
              <a:rPr lang="en-US" sz="2000" i="1" dirty="0">
                <a:latin typeface="Arial" panose="020B0604020202020204" pitchFamily="34" charset="0"/>
                <a:ea typeface="Lato"/>
                <a:cs typeface="Arial" panose="020B0604020202020204" pitchFamily="34" charset="0"/>
              </a:rPr>
              <a:t>Data Warehouse:</a:t>
            </a:r>
          </a:p>
          <a:p>
            <a:pPr marL="457200" lvl="1" indent="0">
              <a:buNone/>
            </a:pP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The data warehouse is implemented using a file-based analytical storage model following Lakehouse principles.</a:t>
            </a:r>
          </a:p>
          <a:p>
            <a:pPr lvl="1"/>
            <a:r>
              <a:rPr lang="en-US" sz="1800" b="1" dirty="0">
                <a:latin typeface="Arial" panose="020B0604020202020204" pitchFamily="34" charset="0"/>
                <a:cs typeface="Arial" panose="020B0604020202020204" pitchFamily="34" charset="0"/>
              </a:rPr>
              <a:t>Layered Storage Design: 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Bronze stores raw immutable data, Silver stores curated analytics data.</a:t>
            </a:r>
          </a:p>
          <a:p>
            <a:pPr lvl="1"/>
            <a:r>
              <a:rPr lang="en-US" sz="1800" b="1" dirty="0">
                <a:latin typeface="Arial" panose="020B0604020202020204" pitchFamily="34" charset="0"/>
                <a:cs typeface="Arial" panose="020B0604020202020204" pitchFamily="34" charset="0"/>
              </a:rPr>
              <a:t>Optimized Columnar Format: 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Apache Parquet for efficient I/O, compression, and schema evolution.</a:t>
            </a:r>
          </a:p>
          <a:p>
            <a:pPr lvl="1"/>
            <a:r>
              <a:rPr lang="en-US" sz="1800" b="1" dirty="0">
                <a:latin typeface="Arial" panose="020B0604020202020204" pitchFamily="34" charset="0"/>
                <a:cs typeface="Arial" panose="020B0604020202020204" pitchFamily="34" charset="0"/>
              </a:rPr>
              <a:t>Integration with ML Pipelines: 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Silver-layer data is used directly for model training.</a:t>
            </a:r>
          </a:p>
          <a:p>
            <a:pPr lvl="1"/>
            <a:r>
              <a:rPr lang="en-US" sz="1800" b="1" dirty="0">
                <a:latin typeface="Arial" panose="020B0604020202020204" pitchFamily="34" charset="0"/>
                <a:cs typeface="Arial" panose="020B0604020202020204" pitchFamily="34" charset="0"/>
              </a:rPr>
              <a:t>Architectural Evaluation: 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Removes RDBMS overhead while supporting Spark batch processing.</a:t>
            </a:r>
          </a:p>
          <a:p>
            <a:pPr marL="0" indent="0">
              <a:buNone/>
            </a:pPr>
            <a:endParaRPr lang="en-US" sz="2200" i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9331574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5B5F2C-6968-7F09-A383-356212C633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A2C01AE-CE93-454B-50E5-745B96E4EC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11</a:t>
            </a:fld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6DEF73F6-A216-F40C-BB8F-9CACBB410C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2. Architecture and Design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305D03B-9DAE-7D4C-C819-13F0056F8A1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234823" y="765047"/>
            <a:ext cx="8674100" cy="2663953"/>
          </a:xfrm>
        </p:spPr>
        <p:txBody>
          <a:bodyPr lIns="91440" tIns="45720" rIns="91440" bIns="45720" anchor="t"/>
          <a:lstStyle/>
          <a:p>
            <a:pPr marL="0" indent="0">
              <a:buNone/>
            </a:pPr>
            <a:r>
              <a:rPr lang="en-US" sz="2200" b="1" i="1" dirty="0">
                <a:latin typeface="Arial" panose="020B0604020202020204" pitchFamily="34" charset="0"/>
                <a:ea typeface="Lato"/>
                <a:cs typeface="Arial" panose="020B0604020202020204" pitchFamily="34" charset="0"/>
              </a:rPr>
              <a:t>2.1. Tech Stack</a:t>
            </a:r>
          </a:p>
          <a:p>
            <a:pPr marL="514350" indent="-514350">
              <a:buFont typeface="+mj-lt"/>
              <a:buAutoNum type="romanLcPeriod" startAt="6"/>
            </a:pPr>
            <a:r>
              <a:rPr lang="en-US" sz="2000" i="1" dirty="0">
                <a:latin typeface="Arial" panose="020B0604020202020204" pitchFamily="34" charset="0"/>
                <a:cs typeface="Arial" panose="020B0604020202020204" pitchFamily="34" charset="0"/>
              </a:rPr>
              <a:t>Object Storage:</a:t>
            </a:r>
          </a:p>
          <a:p>
            <a:pPr marL="457200" lvl="1" indent="0">
              <a:buNone/>
            </a:pP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The system uses an object storage paradigm to persist all intermediate and final datasets. </a:t>
            </a:r>
          </a:p>
          <a:p>
            <a:pPr lvl="1"/>
            <a:r>
              <a:rPr lang="en-US" sz="1800" b="1" dirty="0">
                <a:latin typeface="Arial" panose="020B0604020202020204" pitchFamily="34" charset="0"/>
                <a:cs typeface="Arial" panose="020B0604020202020204" pitchFamily="34" charset="0"/>
              </a:rPr>
              <a:t>Storage Hierarchy and Conventions: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 Raw, Bronze, Silver zones and a dedicated model registry.</a:t>
            </a:r>
          </a:p>
          <a:p>
            <a:pPr lvl="1"/>
            <a:r>
              <a:rPr lang="en-US" sz="1800" b="1" dirty="0">
                <a:latin typeface="Arial" panose="020B0604020202020204" pitchFamily="34" charset="0"/>
                <a:cs typeface="Arial" panose="020B0604020202020204" pitchFamily="34" charset="0"/>
              </a:rPr>
              <a:t>Storage Formats and Access Patterns: 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Parquet for data (write-once, read-many), </a:t>
            </a:r>
            <a:r>
              <a:rPr lang="en-US" sz="1800" dirty="0" err="1">
                <a:latin typeface="Arial" panose="020B0604020202020204" pitchFamily="34" charset="0"/>
                <a:cs typeface="Arial" panose="020B0604020202020204" pitchFamily="34" charset="0"/>
              </a:rPr>
              <a:t>Joblib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 for models.</a:t>
            </a:r>
          </a:p>
          <a:p>
            <a:pPr lvl="1"/>
            <a:r>
              <a:rPr lang="en-US" sz="1800" b="1" dirty="0">
                <a:latin typeface="Arial" panose="020B0604020202020204" pitchFamily="34" charset="0"/>
                <a:cs typeface="Arial" panose="020B0604020202020204" pitchFamily="34" charset="0"/>
              </a:rPr>
              <a:t>Design Rationale: 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Portable, cloud-ready, and suitable for an experimental Big Data prototype.</a:t>
            </a:r>
          </a:p>
          <a:p>
            <a:pPr marL="514350" indent="-514350">
              <a:buFont typeface="+mj-lt"/>
              <a:buAutoNum type="romanLcPeriod" startAt="6"/>
            </a:pPr>
            <a:r>
              <a:rPr lang="en-US" sz="2000" i="1" dirty="0">
                <a:latin typeface="Arial" panose="020B0604020202020204" pitchFamily="34" charset="0"/>
                <a:cs typeface="Arial" panose="020B0604020202020204" pitchFamily="34" charset="0"/>
              </a:rPr>
              <a:t>Message Broker:</a:t>
            </a:r>
          </a:p>
          <a:p>
            <a:pPr marL="457200" lvl="1" indent="0">
              <a:buNone/>
            </a:pP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The message broker provides the high-throughput backbone for the real-time pipeline using Apache Kafka.</a:t>
            </a:r>
          </a:p>
          <a:p>
            <a:pPr lvl="1"/>
            <a:r>
              <a:rPr lang="en-US" sz="1800" b="1" dirty="0">
                <a:latin typeface="Arial" panose="020B0604020202020204" pitchFamily="34" charset="0"/>
                <a:cs typeface="Arial" panose="020B0604020202020204" pitchFamily="34" charset="0"/>
              </a:rPr>
              <a:t>Event Schema and Topic Management: 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A centralized Kafka topic (traffic) stores JSON events with sensor, speed, and timestamp fields.</a:t>
            </a:r>
          </a:p>
          <a:p>
            <a:pPr lvl="1"/>
            <a:r>
              <a:rPr lang="en-US" sz="1800" b="1" dirty="0">
                <a:latin typeface="Arial" panose="020B0604020202020204" pitchFamily="34" charset="0"/>
                <a:cs typeface="Arial" panose="020B0604020202020204" pitchFamily="34" charset="0"/>
              </a:rPr>
              <a:t>Distributed Producer: 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A producer simulates traffic sensors by publishing ordered telemetry events at fixed intervals. </a:t>
            </a:r>
          </a:p>
          <a:p>
            <a:pPr lvl="1"/>
            <a:r>
              <a:rPr lang="en-US" sz="1800" b="1" dirty="0">
                <a:latin typeface="Arial" panose="020B0604020202020204" pitchFamily="34" charset="0"/>
                <a:cs typeface="Arial" panose="020B0604020202020204" pitchFamily="34" charset="0"/>
              </a:rPr>
              <a:t>Streaming Consumers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: Speed Layer consumers ingest events, call the prediction API, and persist enriched results to the Silver Layer.</a:t>
            </a:r>
          </a:p>
          <a:p>
            <a:endParaRPr lang="en-US" sz="2200" i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7568504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75B16F-7B28-3389-14A4-F7F59CE99C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9BDF3FA-7B2F-DCDD-FA2A-DB93943A4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12</a:t>
            </a:fld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B09101E6-4051-5F78-6E35-4B15C60D2E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2. Architecture and Design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E54A6F4-D40D-FDA4-2E4E-BBDF84D5500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234823" y="765047"/>
            <a:ext cx="8674100" cy="2663953"/>
          </a:xfrm>
        </p:spPr>
        <p:txBody>
          <a:bodyPr lIns="91440" tIns="45720" rIns="91440" bIns="45720" anchor="t"/>
          <a:lstStyle/>
          <a:p>
            <a:pPr marL="0" indent="0">
              <a:buNone/>
            </a:pPr>
            <a:r>
              <a:rPr lang="en-US" sz="2200" b="1" i="1" dirty="0">
                <a:latin typeface="Arial" panose="020B0604020202020204" pitchFamily="34" charset="0"/>
                <a:ea typeface="Lato"/>
                <a:cs typeface="Arial" panose="020B0604020202020204" pitchFamily="34" charset="0"/>
              </a:rPr>
              <a:t>2.1. Tech Stack</a:t>
            </a:r>
          </a:p>
          <a:p>
            <a:pPr marL="514350" indent="-514350">
              <a:buFont typeface="+mj-lt"/>
              <a:buAutoNum type="romanLcPeriod" startAt="6"/>
            </a:pPr>
            <a:r>
              <a:rPr lang="en-US" sz="2000" i="1" dirty="0">
                <a:latin typeface="Arial" panose="020B0604020202020204" pitchFamily="34" charset="0"/>
                <a:cs typeface="Arial" panose="020B0604020202020204" pitchFamily="34" charset="0"/>
              </a:rPr>
              <a:t>Object Storage:</a:t>
            </a:r>
          </a:p>
          <a:p>
            <a:pPr marL="457200" lvl="1" indent="0">
              <a:buNone/>
            </a:pP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The system uses an object storage paradigm to persist all intermediate and final datasets. </a:t>
            </a:r>
          </a:p>
          <a:p>
            <a:pPr lvl="1"/>
            <a:r>
              <a:rPr lang="en-US" sz="1800" b="1" dirty="0">
                <a:latin typeface="Arial" panose="020B0604020202020204" pitchFamily="34" charset="0"/>
                <a:cs typeface="Arial" panose="020B0604020202020204" pitchFamily="34" charset="0"/>
              </a:rPr>
              <a:t>Storage Hierarchy and Conventions: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 Raw, Bronze, Silver zones and a dedicated model registry.</a:t>
            </a:r>
          </a:p>
          <a:p>
            <a:pPr lvl="1"/>
            <a:r>
              <a:rPr lang="en-US" sz="1800" b="1" dirty="0">
                <a:latin typeface="Arial" panose="020B0604020202020204" pitchFamily="34" charset="0"/>
                <a:cs typeface="Arial" panose="020B0604020202020204" pitchFamily="34" charset="0"/>
              </a:rPr>
              <a:t>Storage Formats and Access Patterns: 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Parquet for data (write-once, read-many), </a:t>
            </a:r>
            <a:r>
              <a:rPr lang="en-US" sz="1800" dirty="0" err="1">
                <a:latin typeface="Arial" panose="020B0604020202020204" pitchFamily="34" charset="0"/>
                <a:cs typeface="Arial" panose="020B0604020202020204" pitchFamily="34" charset="0"/>
              </a:rPr>
              <a:t>Joblib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 for models.</a:t>
            </a:r>
          </a:p>
          <a:p>
            <a:pPr lvl="1"/>
            <a:r>
              <a:rPr lang="en-US" sz="1800" b="1" dirty="0">
                <a:latin typeface="Arial" panose="020B0604020202020204" pitchFamily="34" charset="0"/>
                <a:cs typeface="Arial" panose="020B0604020202020204" pitchFamily="34" charset="0"/>
              </a:rPr>
              <a:t>Design Rationale: 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Portable, cloud-ready, and suitable for an experimental Big Data prototype.</a:t>
            </a:r>
          </a:p>
          <a:p>
            <a:pPr marL="514350" indent="-514350">
              <a:buFont typeface="+mj-lt"/>
              <a:buAutoNum type="romanLcPeriod" startAt="6"/>
            </a:pPr>
            <a:r>
              <a:rPr lang="en-US" sz="2000" i="1" dirty="0">
                <a:latin typeface="Arial" panose="020B0604020202020204" pitchFamily="34" charset="0"/>
                <a:cs typeface="Arial" panose="020B0604020202020204" pitchFamily="34" charset="0"/>
              </a:rPr>
              <a:t>Message Broker:</a:t>
            </a:r>
          </a:p>
          <a:p>
            <a:pPr marL="457200" lvl="1" indent="0">
              <a:buNone/>
            </a:pP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The message broker provides the high-throughput backbone for the real-time pipeline using Apache Kafka.</a:t>
            </a:r>
          </a:p>
          <a:p>
            <a:pPr lvl="1"/>
            <a:r>
              <a:rPr lang="en-US" sz="1800" b="1" dirty="0">
                <a:latin typeface="Arial" panose="020B0604020202020204" pitchFamily="34" charset="0"/>
                <a:cs typeface="Arial" panose="020B0604020202020204" pitchFamily="34" charset="0"/>
              </a:rPr>
              <a:t>Event Schema and Topic Management: 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A centralized Kafka topic (traffic) stores JSON events with sensor, speed, and timestamp fields.</a:t>
            </a:r>
          </a:p>
          <a:p>
            <a:pPr lvl="1"/>
            <a:r>
              <a:rPr lang="en-US" sz="1800" b="1" dirty="0">
                <a:latin typeface="Arial" panose="020B0604020202020204" pitchFamily="34" charset="0"/>
                <a:cs typeface="Arial" panose="020B0604020202020204" pitchFamily="34" charset="0"/>
              </a:rPr>
              <a:t>Distributed Producer: 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A producer simulates traffic sensors by publishing ordered telemetry events at fixed intervals. </a:t>
            </a:r>
          </a:p>
          <a:p>
            <a:pPr lvl="1"/>
            <a:r>
              <a:rPr lang="en-US" sz="1800" b="1" dirty="0">
                <a:latin typeface="Arial" panose="020B0604020202020204" pitchFamily="34" charset="0"/>
                <a:cs typeface="Arial" panose="020B0604020202020204" pitchFamily="34" charset="0"/>
              </a:rPr>
              <a:t>Streaming Consumers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: Speed Layer consumers ingest events, call the prediction API, and persist enriched results to the Silver Layer.</a:t>
            </a:r>
          </a:p>
          <a:p>
            <a:endParaRPr lang="en-US" sz="2200" i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5590338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0AA387-6D1D-54BB-C8E8-474887068F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44682C4-C6B2-FEF5-63F2-0B93E71C19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13</a:t>
            </a:fld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8654A105-FDD6-D23E-C045-4AFEB64F3C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2. Architecture and Design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C401517-9762-884A-9075-7C6391655E0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234823" y="887285"/>
            <a:ext cx="8674100" cy="2663953"/>
          </a:xfrm>
        </p:spPr>
        <p:txBody>
          <a:bodyPr lIns="91440" tIns="45720" rIns="91440" bIns="45720" anchor="t"/>
          <a:lstStyle/>
          <a:p>
            <a:pPr marL="0" indent="0">
              <a:buNone/>
            </a:pPr>
            <a:r>
              <a:rPr lang="en-US" sz="2200" b="1" i="1" dirty="0">
                <a:latin typeface="Arial" panose="020B0604020202020204" pitchFamily="34" charset="0"/>
                <a:ea typeface="Lato"/>
                <a:cs typeface="Arial" panose="020B0604020202020204" pitchFamily="34" charset="0"/>
              </a:rPr>
              <a:t>2.1. Tech Stack</a:t>
            </a:r>
          </a:p>
          <a:p>
            <a:pPr marL="514350" indent="-514350">
              <a:buFont typeface="+mj-lt"/>
              <a:buAutoNum type="romanLcPeriod" startAt="8"/>
            </a:pPr>
            <a:r>
              <a:rPr lang="en-US" sz="2000" i="1" dirty="0">
                <a:latin typeface="Arial" panose="020B0604020202020204" pitchFamily="34" charset="0"/>
                <a:cs typeface="Arial" panose="020B0604020202020204" pitchFamily="34" charset="0"/>
              </a:rPr>
              <a:t>Visualization</a:t>
            </a:r>
          </a:p>
          <a:p>
            <a:pPr marL="457200" lvl="1" indent="0">
              <a:buNone/>
            </a:pP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The visualization layer provides a real-time analytical dashboard built with </a:t>
            </a:r>
            <a:r>
              <a:rPr lang="en-US" sz="1800" dirty="0" err="1">
                <a:latin typeface="Arial" panose="020B0604020202020204" pitchFamily="34" charset="0"/>
                <a:cs typeface="Arial" panose="020B0604020202020204" pitchFamily="34" charset="0"/>
              </a:rPr>
              <a:t>Streamlit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lvl="1"/>
            <a:r>
              <a:rPr lang="en-US" sz="1800" b="1" dirty="0">
                <a:latin typeface="Arial" panose="020B0604020202020204" pitchFamily="34" charset="0"/>
                <a:cs typeface="Arial" panose="020B0604020202020204" pitchFamily="34" charset="0"/>
              </a:rPr>
              <a:t>Interface Functionality and API Integration: 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The dashboard interacts with </a:t>
            </a:r>
            <a:r>
              <a:rPr lang="en-US" sz="1800" dirty="0" err="1">
                <a:latin typeface="Arial" panose="020B0604020202020204" pitchFamily="34" charset="0"/>
                <a:cs typeface="Arial" panose="020B0604020202020204" pitchFamily="34" charset="0"/>
              </a:rPr>
              <a:t>FastAPI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 via asynchronous REST calls for real-time inference.</a:t>
            </a:r>
          </a:p>
          <a:p>
            <a:pPr lvl="1"/>
            <a:r>
              <a:rPr lang="en-US" sz="1800" b="1" dirty="0">
                <a:latin typeface="Arial" panose="020B0604020202020204" pitchFamily="34" charset="0"/>
                <a:cs typeface="Arial" panose="020B0604020202020204" pitchFamily="34" charset="0"/>
              </a:rPr>
              <a:t>Predictive Visualization Logic: 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Predicted speeds are mapped to color-coded congestion levels (Green, Yellow, Red).</a:t>
            </a:r>
          </a:p>
          <a:p>
            <a:pPr lvl="1"/>
            <a:r>
              <a:rPr lang="en-US" sz="1800" b="1" dirty="0">
                <a:latin typeface="Arial" panose="020B0604020202020204" pitchFamily="34" charset="0"/>
                <a:cs typeface="Arial" panose="020B0604020202020204" pitchFamily="34" charset="0"/>
              </a:rPr>
              <a:t>Spatial-Temporal Rendering with </a:t>
            </a:r>
            <a:r>
              <a:rPr lang="en-US" sz="1800" b="1" dirty="0" err="1">
                <a:latin typeface="Arial" panose="020B0604020202020204" pitchFamily="34" charset="0"/>
                <a:cs typeface="Arial" panose="020B0604020202020204" pitchFamily="34" charset="0"/>
              </a:rPr>
              <a:t>PyDeck</a:t>
            </a:r>
            <a:r>
              <a:rPr lang="en-US" sz="1800" b="1" dirty="0"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Traffic sensors are displayed as geospatial points with interactive metadata and dynamic centering.</a:t>
            </a:r>
          </a:p>
          <a:p>
            <a:pPr lvl="1"/>
            <a:r>
              <a:rPr lang="en-US" sz="1800" b="1" dirty="0">
                <a:latin typeface="Arial" panose="020B0604020202020204" pitchFamily="34" charset="0"/>
                <a:cs typeface="Arial" panose="020B0604020202020204" pitchFamily="34" charset="0"/>
              </a:rPr>
              <a:t>Design Rationale (Python-Native): </a:t>
            </a:r>
            <a:r>
              <a:rPr lang="en-US" sz="1800" dirty="0" err="1">
                <a:latin typeface="Arial" panose="020B0604020202020204" pitchFamily="34" charset="0"/>
                <a:cs typeface="Arial" panose="020B0604020202020204" pitchFamily="34" charset="0"/>
              </a:rPr>
              <a:t>Streamlit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 integrates seamlessly with the Python data stack and supports modular deployment</a:t>
            </a:r>
            <a:endParaRPr lang="en-US" sz="2200" i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0647713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9D6C56-8AFE-0B23-350F-89CF0BEF8E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BA14B2F-2CA2-AE65-C4C3-659CBC764E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14</a:t>
            </a:fld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03B01E27-8102-9A65-B4F7-1AF4771FA5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2. Architecture and Design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D39B6DF-7A70-1D0D-8DF2-4031560BD787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234823" y="887285"/>
            <a:ext cx="8674100" cy="2663953"/>
          </a:xfrm>
        </p:spPr>
        <p:txBody>
          <a:bodyPr lIns="91440" tIns="45720" rIns="91440" bIns="45720" anchor="t"/>
          <a:lstStyle/>
          <a:p>
            <a:pPr marL="0" indent="0">
              <a:buNone/>
            </a:pPr>
            <a:r>
              <a:rPr lang="en-US" sz="2200" b="1" i="1" dirty="0">
                <a:latin typeface="Arial" panose="020B0604020202020204" pitchFamily="34" charset="0"/>
                <a:ea typeface="Lato"/>
                <a:cs typeface="Arial" panose="020B0604020202020204" pitchFamily="34" charset="0"/>
              </a:rPr>
              <a:t>2.2. System Design</a:t>
            </a:r>
          </a:p>
          <a:p>
            <a:pPr marL="514350" indent="-514350">
              <a:buFont typeface="+mj-lt"/>
              <a:buAutoNum type="romanLcPeriod"/>
            </a:pPr>
            <a:r>
              <a:rPr lang="en-US" sz="2000" i="1" dirty="0">
                <a:latin typeface="Arial" panose="020B0604020202020204" pitchFamily="34" charset="0"/>
                <a:cs typeface="Arial" panose="020B0604020202020204" pitchFamily="34" charset="0"/>
              </a:rPr>
              <a:t>Overall Architecture</a:t>
            </a:r>
          </a:p>
          <a:p>
            <a:pPr marL="457200" lvl="1" indent="0">
              <a:buNone/>
            </a:pP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The system follows a Lambda-inspired architecture combining batch and real-time processing.</a:t>
            </a:r>
          </a:p>
          <a:p>
            <a:pPr lvl="1"/>
            <a:r>
              <a:rPr lang="en-US" sz="1800" b="1" dirty="0">
                <a:latin typeface="Arial" panose="020B0604020202020204" pitchFamily="34" charset="0"/>
                <a:cs typeface="Arial" panose="020B0604020202020204" pitchFamily="34" charset="0"/>
              </a:rPr>
              <a:t>Architecture Overview: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 Lambda-inspired design with Batch Layer (historical) and Speed Layer (real-time).</a:t>
            </a:r>
          </a:p>
          <a:p>
            <a:pPr lvl="1"/>
            <a:r>
              <a:rPr lang="en-US" sz="1800" b="1" dirty="0">
                <a:latin typeface="Arial" panose="020B0604020202020204" pitchFamily="34" charset="0"/>
                <a:cs typeface="Arial" panose="020B0604020202020204" pitchFamily="34" charset="0"/>
              </a:rPr>
              <a:t>Architectural Components and Workflow: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pPr lvl="2">
              <a:buFontTx/>
              <a:buChar char="-"/>
            </a:pP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Ingestion Layer → Bronze (raw, immutable data)</a:t>
            </a:r>
          </a:p>
          <a:p>
            <a:pPr lvl="2">
              <a:buFontTx/>
              <a:buChar char="-"/>
            </a:pP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Batch Layer (cold path) → historical processing &amp; model training</a:t>
            </a:r>
          </a:p>
          <a:p>
            <a:pPr lvl="2">
              <a:buFontTx/>
              <a:buChar char="-"/>
            </a:pP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Speed Layer (hot path) → real-time event processing</a:t>
            </a:r>
          </a:p>
          <a:p>
            <a:pPr lvl="2">
              <a:buFontTx/>
              <a:buChar char="-"/>
            </a:pP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Serving &amp; API Layer → model inference via </a:t>
            </a: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FastAPI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pPr lvl="2">
              <a:buFontTx/>
              <a:buChar char="-"/>
            </a:pP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Visualization Layer → final data consumption</a:t>
            </a:r>
          </a:p>
          <a:p>
            <a:pPr lvl="1"/>
            <a:r>
              <a:rPr lang="en-US" sz="1800" b="1" dirty="0">
                <a:latin typeface="Arial" panose="020B0604020202020204" pitchFamily="34" charset="0"/>
                <a:cs typeface="Arial" panose="020B0604020202020204" pitchFamily="34" charset="0"/>
              </a:rPr>
              <a:t>Core Design Principles:</a:t>
            </a:r>
          </a:p>
          <a:p>
            <a:pPr lvl="2">
              <a:buFontTx/>
              <a:buChar char="-"/>
            </a:pP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Separation of Concerns.</a:t>
            </a:r>
          </a:p>
          <a:p>
            <a:pPr lvl="2">
              <a:buFontTx/>
              <a:buChar char="-"/>
            </a:pP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Idempotency &amp; Reproducibility</a:t>
            </a:r>
          </a:p>
          <a:p>
            <a:pPr lvl="2">
              <a:buFontTx/>
              <a:buChar char="-"/>
            </a:pP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Fault Isolation</a:t>
            </a:r>
          </a:p>
          <a:p>
            <a:pPr lvl="1"/>
            <a:r>
              <a:rPr lang="en-US" sz="1800" b="1" dirty="0">
                <a:latin typeface="Arial" panose="020B0604020202020204" pitchFamily="34" charset="0"/>
                <a:cs typeface="Arial" panose="020B0604020202020204" pitchFamily="34" charset="0"/>
              </a:rPr>
              <a:t>Containerized Deployment Strategy: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 Docker-based deployment, cloud-native and Kubernetes-ready.</a:t>
            </a:r>
            <a:endParaRPr lang="en-US" sz="2200" i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3827305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D270D0-300D-3A18-AA4A-A3460D01C6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C58735A-EEDA-0B71-AB78-6097FAB456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15</a:t>
            </a:fld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24EDEEF1-7318-EE6A-C821-2FEC418898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2. Architecture and Design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D90F09B-293F-E817-A479-7622A679C3F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234823" y="887285"/>
            <a:ext cx="8689960" cy="2663953"/>
          </a:xfrm>
        </p:spPr>
        <p:txBody>
          <a:bodyPr lIns="91440" tIns="45720" rIns="91440" bIns="45720" anchor="t"/>
          <a:lstStyle/>
          <a:p>
            <a:pPr marL="0" indent="0">
              <a:buNone/>
            </a:pPr>
            <a:r>
              <a:rPr lang="en-US" sz="2200" b="1" i="1" dirty="0">
                <a:latin typeface="Arial" panose="020B0604020202020204" pitchFamily="34" charset="0"/>
                <a:ea typeface="Lato"/>
                <a:cs typeface="Arial" panose="020B0604020202020204" pitchFamily="34" charset="0"/>
              </a:rPr>
              <a:t>2.2. System Design</a:t>
            </a:r>
          </a:p>
          <a:p>
            <a:pPr marL="514350" indent="-514350">
              <a:buFont typeface="+mj-lt"/>
              <a:buAutoNum type="romanLcPeriod" startAt="2"/>
            </a:pPr>
            <a:r>
              <a:rPr lang="en-US" sz="2000" i="1" dirty="0">
                <a:latin typeface="Arial" panose="020B0604020202020204" pitchFamily="34" charset="0"/>
                <a:cs typeface="Arial" panose="020B0604020202020204" pitchFamily="34" charset="0"/>
              </a:rPr>
              <a:t>Batch Layer</a:t>
            </a:r>
          </a:p>
          <a:p>
            <a:pPr marL="457200" lvl="1" indent="0">
              <a:buNone/>
            </a:pP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The Batch Layer performs high-throughput historical analysis and model training. </a:t>
            </a:r>
          </a:p>
          <a:p>
            <a:pPr lvl="1"/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Focus on data completeness and statistical accuracy.</a:t>
            </a:r>
          </a:p>
          <a:p>
            <a:pPr lvl="1"/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Operates on cold-storage historical telemetry.</a:t>
            </a:r>
          </a:p>
          <a:p>
            <a:pPr lvl="1"/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Produces predictive artifacts for real-time inference</a:t>
            </a:r>
          </a:p>
        </p:txBody>
      </p:sp>
    </p:spTree>
    <p:extLst>
      <p:ext uri="{BB962C8B-B14F-4D97-AF65-F5344CB8AC3E}">
        <p14:creationId xmlns:p14="http://schemas.microsoft.com/office/powerpoint/2010/main" val="364173870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4E723A-5E78-F59B-53BD-ED5A115F6C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BC793C4-8841-4BA2-94D5-7FB0E606B2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16</a:t>
            </a:fld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12251891-1C1A-005E-1F98-3B7A02B989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2. Architecture and Design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7C7A208-2491-CA77-1D20-F8A62A0D0DBD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234823" y="887285"/>
            <a:ext cx="3294958" cy="2663953"/>
          </a:xfrm>
        </p:spPr>
        <p:txBody>
          <a:bodyPr lIns="91440" tIns="45720" rIns="91440" bIns="45720" anchor="t"/>
          <a:lstStyle/>
          <a:p>
            <a:pPr marL="0" indent="0">
              <a:buNone/>
            </a:pPr>
            <a:r>
              <a:rPr lang="en-US" sz="2200" b="1" i="1" dirty="0">
                <a:latin typeface="Arial" panose="020B0604020202020204" pitchFamily="34" charset="0"/>
                <a:ea typeface="Lato"/>
                <a:cs typeface="Arial" panose="020B0604020202020204" pitchFamily="34" charset="0"/>
              </a:rPr>
              <a:t>2.2. System Design</a:t>
            </a:r>
          </a:p>
          <a:p>
            <a:pPr marL="514350" indent="-514350">
              <a:buFont typeface="+mj-lt"/>
              <a:buAutoNum type="romanLcPeriod" startAt="2"/>
            </a:pPr>
            <a:r>
              <a:rPr lang="en-US" sz="2000" i="1" dirty="0">
                <a:latin typeface="Arial" panose="020B0604020202020204" pitchFamily="34" charset="0"/>
                <a:cs typeface="Arial" panose="020B0604020202020204" pitchFamily="34" charset="0"/>
              </a:rPr>
              <a:t>Batch Layer</a:t>
            </a:r>
          </a:p>
          <a:p>
            <a:pPr marL="457200" lvl="1" indent="0">
              <a:buNone/>
            </a:pPr>
            <a:r>
              <a:rPr lang="en-US" sz="1800" b="1" dirty="0">
                <a:latin typeface="Arial" panose="020B0604020202020204" pitchFamily="34" charset="0"/>
                <a:cs typeface="Arial" panose="020B0604020202020204" pitchFamily="34" charset="0"/>
              </a:rPr>
              <a:t>Data Processing:</a:t>
            </a:r>
          </a:p>
          <a:p>
            <a:pPr lvl="1"/>
            <a:r>
              <a:rPr lang="en-US" sz="1800" b="1" dirty="0">
                <a:latin typeface="Arial" panose="020B0604020202020204" pitchFamily="34" charset="0"/>
                <a:cs typeface="Arial" panose="020B0604020202020204" pitchFamily="34" charset="0"/>
              </a:rPr>
              <a:t>Data Ingestion and Schema Specification: 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Ingests Parquet data from Bronze layer with strict schema enforcement. </a:t>
            </a:r>
          </a:p>
          <a:p>
            <a:pPr lvl="1"/>
            <a:r>
              <a:rPr lang="en-US" sz="1800" b="1" dirty="0">
                <a:latin typeface="Arial" panose="020B0604020202020204" pitchFamily="34" charset="0"/>
                <a:cs typeface="Arial" panose="020B0604020202020204" pitchFamily="34" charset="0"/>
              </a:rPr>
              <a:t>ETL and Data Sanitization:</a:t>
            </a:r>
          </a:p>
          <a:p>
            <a:pPr lvl="2">
              <a:buFontTx/>
              <a:buChar char="-"/>
            </a:pP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Temporal normalization</a:t>
            </a:r>
          </a:p>
          <a:p>
            <a:pPr lvl="2">
              <a:buFontTx/>
              <a:buChar char="-"/>
            </a:pP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Spatial-temporal sorting</a:t>
            </a:r>
          </a:p>
          <a:p>
            <a:pPr lvl="2">
              <a:buFontTx/>
              <a:buChar char="-"/>
            </a:pP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Data integrity filtering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7B2361F-BB47-CBF2-C4A2-2FA61A1F80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80459" y="1846026"/>
            <a:ext cx="5544324" cy="34104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251729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6528BD-3541-60C4-D6BB-073BCFA50F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D63EACC-92A8-E539-2B74-C23B0B3B9C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17</a:t>
            </a:fld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08881229-497D-37B7-BAED-300D1B2AA6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2. Architecture and Design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E9347DDD-0783-3F73-E008-FE1E51C6A1AC}"/>
                  </a:ext>
                </a:extLst>
              </p:cNvPr>
              <p:cNvSpPr>
                <a:spLocks noGrp="1"/>
              </p:cNvSpPr>
              <p:nvPr>
                <p:ph sz="quarter" idx="13"/>
              </p:nvPr>
            </p:nvSpPr>
            <p:spPr>
              <a:xfrm>
                <a:off x="234823" y="887285"/>
                <a:ext cx="8674100" cy="2663953"/>
              </a:xfrm>
            </p:spPr>
            <p:txBody>
              <a:bodyPr lIns="91440" tIns="45720" rIns="91440" bIns="45720" anchor="t"/>
              <a:lstStyle/>
              <a:p>
                <a:pPr marL="0" indent="0">
                  <a:buNone/>
                </a:pPr>
                <a:r>
                  <a:rPr lang="en-US" sz="2200" b="1" i="1" dirty="0">
                    <a:latin typeface="Arial" panose="020B0604020202020204" pitchFamily="34" charset="0"/>
                    <a:ea typeface="Lato"/>
                    <a:cs typeface="Arial" panose="020B0604020202020204" pitchFamily="34" charset="0"/>
                  </a:rPr>
                  <a:t>2.2. System Design</a:t>
                </a:r>
              </a:p>
              <a:p>
                <a:pPr marL="514350" indent="-514350">
                  <a:buFont typeface="+mj-lt"/>
                  <a:buAutoNum type="romanLcPeriod" startAt="2"/>
                </a:pPr>
                <a:r>
                  <a:rPr lang="en-US" sz="2000" i="1" dirty="0">
                    <a:latin typeface="Arial" panose="020B0604020202020204" pitchFamily="34" charset="0"/>
                    <a:cs typeface="Arial" panose="020B0604020202020204" pitchFamily="34" charset="0"/>
                  </a:rPr>
                  <a:t>Batch Layer</a:t>
                </a:r>
              </a:p>
              <a:p>
                <a:pPr marL="457200" lvl="1" indent="0">
                  <a:buNone/>
                </a:pPr>
                <a:r>
                  <a:rPr lang="en-US" sz="18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Feature Engineering:</a:t>
                </a:r>
              </a:p>
              <a:p>
                <a:pPr lvl="1"/>
                <a:r>
                  <a:rPr lang="en-US" sz="18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Windowed Aggregations: </a:t>
                </a:r>
                <a:r>
                  <a:rPr lang="en-US" sz="1800" dirty="0">
                    <a:latin typeface="Arial" panose="020B0604020202020204" pitchFamily="34" charset="0"/>
                    <a:cs typeface="Arial" panose="020B0604020202020204" pitchFamily="34" charset="0"/>
                  </a:rPr>
                  <a:t>Rolling mean (3-period) and fixed 5-minute temporal windows.</a:t>
                </a:r>
              </a:p>
              <a:p>
                <a:pPr lvl="1"/>
                <a:r>
                  <a:rPr lang="en-US" sz="18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Temporal Lagging: </a:t>
                </a:r>
                <a:r>
                  <a:rPr lang="en-US" sz="1800" dirty="0">
                    <a:latin typeface="Arial" panose="020B0604020202020204" pitchFamily="34" charset="0"/>
                    <a:cs typeface="Arial" panose="020B0604020202020204" pitchFamily="34" charset="0"/>
                  </a:rPr>
                  <a:t>First-order lag feature (</a:t>
                </a:r>
                <a14:m>
                  <m:oMath xmlns:m="http://schemas.openxmlformats.org/officeDocument/2006/math">
                    <m:r>
                      <a:rPr lang="en-US" sz="1800" i="1" dirty="0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𝑠𝑝𝑒𝑒𝑑</m:t>
                    </m:r>
                    <m:r>
                      <a:rPr lang="en-US" sz="1800" i="1" dirty="0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_</m:t>
                    </m:r>
                    <m:r>
                      <a:rPr lang="en-US" sz="1800" i="1" dirty="0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𝑙𝑎𝑔</m:t>
                    </m:r>
                    <m:r>
                      <a:rPr lang="en-US" sz="1800" i="1" dirty="0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1</m:t>
                    </m:r>
                  </m:oMath>
                </a14:m>
                <a:r>
                  <a:rPr lang="en-US" sz="1800" dirty="0">
                    <a:latin typeface="Arial" panose="020B0604020202020204" pitchFamily="34" charset="0"/>
                    <a:cs typeface="Arial" panose="020B0604020202020204" pitchFamily="34" charset="0"/>
                  </a:rPr>
                  <a:t>).</a:t>
                </a:r>
              </a:p>
              <a:p>
                <a:pPr lvl="1"/>
                <a:r>
                  <a:rPr lang="en-US" sz="18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One-Hot Encoding (OHE</a:t>
                </a:r>
                <a:r>
                  <a:rPr lang="en-US" sz="1800" dirty="0">
                    <a:latin typeface="Arial" panose="020B0604020202020204" pitchFamily="34" charset="0"/>
                    <a:cs typeface="Arial" panose="020B0604020202020204" pitchFamily="34" charset="0"/>
                  </a:rPr>
                  <a:t>): Binary encoding of sensor IDs.</a:t>
                </a:r>
              </a:p>
              <a:p>
                <a:pPr lvl="1"/>
                <a:r>
                  <a:rPr lang="en-US" sz="18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Cyclical Temporal Embedding: </a:t>
                </a:r>
                <a:r>
                  <a:rPr lang="en-US" sz="1800" dirty="0">
                    <a:latin typeface="Arial" panose="020B0604020202020204" pitchFamily="34" charset="0"/>
                    <a:cs typeface="Arial" panose="020B0604020202020204" pitchFamily="34" charset="0"/>
                  </a:rPr>
                  <a:t>Trigonometric encoding of periodic time variables.</a:t>
                </a:r>
              </a:p>
              <a:p>
                <a:pPr lvl="1"/>
                <a:r>
                  <a:rPr lang="en-US" sz="18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Binary Temporal Indicators: </a:t>
                </a:r>
                <a:r>
                  <a:rPr lang="en-US" sz="1800" dirty="0">
                    <a:latin typeface="Arial" panose="020B0604020202020204" pitchFamily="34" charset="0"/>
                    <a:cs typeface="Arial" panose="020B0604020202020204" pitchFamily="34" charset="0"/>
                  </a:rPr>
                  <a:t>Weekend and night-time flags.</a:t>
                </a:r>
              </a:p>
            </p:txBody>
          </p:sp>
        </mc:Choice>
        <mc:Fallback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E9347DDD-0783-3F73-E008-FE1E51C6A1A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3"/>
              </p:nvPr>
            </p:nvSpPr>
            <p:spPr>
              <a:xfrm>
                <a:off x="234823" y="887285"/>
                <a:ext cx="8674100" cy="2663953"/>
              </a:xfrm>
              <a:blipFill>
                <a:blip r:embed="rId2"/>
                <a:stretch>
                  <a:fillRect l="-914" t="-2746" b="-2196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0648520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075A11-72A1-F1D9-F2CA-07357E3B9E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C82B5F0-28F3-7E24-7241-75009C5B16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18</a:t>
            </a:fld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8A36EDCF-8FD5-0E9E-C1DF-8CBA8A8BC3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2. Architecture and Design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777AFAF-6FBB-5053-1858-6BA01AE0B35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234823" y="887285"/>
            <a:ext cx="8674100" cy="2663953"/>
          </a:xfrm>
        </p:spPr>
        <p:txBody>
          <a:bodyPr lIns="91440" tIns="45720" rIns="91440" bIns="45720" anchor="t"/>
          <a:lstStyle/>
          <a:p>
            <a:pPr marL="0" indent="0">
              <a:buNone/>
            </a:pPr>
            <a:r>
              <a:rPr lang="en-US" sz="2200" b="1" i="1" dirty="0">
                <a:latin typeface="Arial" panose="020B0604020202020204" pitchFamily="34" charset="0"/>
                <a:ea typeface="Lato"/>
                <a:cs typeface="Arial" panose="020B0604020202020204" pitchFamily="34" charset="0"/>
              </a:rPr>
              <a:t>2.2. System Design</a:t>
            </a:r>
          </a:p>
          <a:p>
            <a:pPr marL="514350" indent="-514350">
              <a:buFont typeface="+mj-lt"/>
              <a:buAutoNum type="romanLcPeriod" startAt="2"/>
            </a:pPr>
            <a:r>
              <a:rPr lang="en-US" sz="2000" i="1" dirty="0">
                <a:latin typeface="Arial" panose="020B0604020202020204" pitchFamily="34" charset="0"/>
                <a:cs typeface="Arial" panose="020B0604020202020204" pitchFamily="34" charset="0"/>
              </a:rPr>
              <a:t>Batch Layer</a:t>
            </a:r>
          </a:p>
          <a:p>
            <a:pPr marL="457200" lvl="1" indent="0">
              <a:buNone/>
            </a:pPr>
            <a:r>
              <a:rPr lang="en-US" sz="1800" b="1" dirty="0">
                <a:latin typeface="Arial" panose="020B0604020202020204" pitchFamily="34" charset="0"/>
                <a:cs typeface="Arial" panose="020B0604020202020204" pitchFamily="34" charset="0"/>
              </a:rPr>
              <a:t>Modeling:</a:t>
            </a:r>
          </a:p>
          <a:p>
            <a:pPr lvl="1"/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Model Architecture:</a:t>
            </a:r>
          </a:p>
          <a:p>
            <a:pPr lvl="2">
              <a:buFontTx/>
              <a:buChar char="-"/>
            </a:pP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Random Forest Regressor (speed prediction).</a:t>
            </a:r>
          </a:p>
          <a:p>
            <a:pPr lvl="2">
              <a:buFontTx/>
              <a:buChar char="-"/>
            </a:pPr>
            <a:r>
              <a:rPr lang="en-US" sz="1800" dirty="0" err="1">
                <a:latin typeface="Arial" panose="020B0604020202020204" pitchFamily="34" charset="0"/>
                <a:cs typeface="Arial" panose="020B0604020202020204" pitchFamily="34" charset="0"/>
              </a:rPr>
              <a:t>XGBoost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 Classifier (congestion level).</a:t>
            </a:r>
          </a:p>
          <a:p>
            <a:pPr lvl="1"/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Training Strategy: 80/20 train-test split, evaluated using MAE.</a:t>
            </a:r>
          </a:p>
          <a:p>
            <a:pPr lvl="1"/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Model Persistence and Serialization:</a:t>
            </a:r>
          </a:p>
          <a:p>
            <a:pPr lvl="2">
              <a:buFontTx/>
              <a:buChar char="-"/>
            </a:pP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Random Forest → </a:t>
            </a:r>
            <a:r>
              <a:rPr lang="en-US" sz="1800" dirty="0" err="1">
                <a:latin typeface="Arial" panose="020B0604020202020204" pitchFamily="34" charset="0"/>
                <a:cs typeface="Arial" panose="020B0604020202020204" pitchFamily="34" charset="0"/>
              </a:rPr>
              <a:t>model.joblib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lvl="2">
              <a:buFontTx/>
              <a:buChar char="-"/>
            </a:pPr>
            <a:r>
              <a:rPr lang="en-US" sz="1800" dirty="0" err="1">
                <a:latin typeface="Arial" panose="020B0604020202020204" pitchFamily="34" charset="0"/>
                <a:cs typeface="Arial" panose="020B0604020202020204" pitchFamily="34" charset="0"/>
              </a:rPr>
              <a:t>XGBoost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 → </a:t>
            </a:r>
            <a:r>
              <a:rPr lang="en-US" sz="1800" dirty="0" err="1">
                <a:latin typeface="Arial" panose="020B0604020202020204" pitchFamily="34" charset="0"/>
                <a:cs typeface="Arial" panose="020B0604020202020204" pitchFamily="34" charset="0"/>
              </a:rPr>
              <a:t>xgb_model.json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lvl="2">
              <a:buFontTx/>
              <a:buChar char="-"/>
            </a:pP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Ensures training-serving consistency.</a:t>
            </a:r>
          </a:p>
          <a:p>
            <a:pPr marL="457200" lvl="1" indent="0">
              <a:buNone/>
            </a:pPr>
            <a:r>
              <a:rPr lang="en-US" sz="1800" b="1" dirty="0">
                <a:latin typeface="Arial" panose="020B0604020202020204" pitchFamily="34" charset="0"/>
                <a:cs typeface="Arial" panose="020B0604020202020204" pitchFamily="34" charset="0"/>
              </a:rPr>
              <a:t>Batch Layer Deliverables: </a:t>
            </a:r>
          </a:p>
          <a:p>
            <a:pPr lvl="1"/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Serialized predictive artifacts</a:t>
            </a:r>
          </a:p>
          <a:p>
            <a:pPr lvl="1"/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Reproducible ETL pipeline</a:t>
            </a:r>
          </a:p>
          <a:p>
            <a:pPr lvl="1"/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Unified feature definitions shared with Speed Layer</a:t>
            </a:r>
          </a:p>
        </p:txBody>
      </p:sp>
    </p:spTree>
    <p:extLst>
      <p:ext uri="{BB962C8B-B14F-4D97-AF65-F5344CB8AC3E}">
        <p14:creationId xmlns:p14="http://schemas.microsoft.com/office/powerpoint/2010/main" val="34125947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6671A5-CE4E-BDC4-2991-E4D7023BE9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51570AA-4A9A-7CD7-4F04-0D6477636E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19</a:t>
            </a:fld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DF8E9986-B416-0448-4C9E-061FA189AC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2. Architecture and Design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D3EE0A6-28C4-3289-50B2-E4D7965BCE7E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234823" y="887285"/>
            <a:ext cx="4337177" cy="2663953"/>
          </a:xfrm>
        </p:spPr>
        <p:txBody>
          <a:bodyPr lIns="91440" tIns="45720" rIns="91440" bIns="45720" anchor="t"/>
          <a:lstStyle/>
          <a:p>
            <a:pPr marL="0" indent="0">
              <a:buNone/>
            </a:pPr>
            <a:r>
              <a:rPr lang="en-US" sz="2200" b="1" i="1" dirty="0">
                <a:latin typeface="Arial" panose="020B0604020202020204" pitchFamily="34" charset="0"/>
                <a:ea typeface="Lato"/>
                <a:cs typeface="Arial" panose="020B0604020202020204" pitchFamily="34" charset="0"/>
              </a:rPr>
              <a:t>2.2. System Design</a:t>
            </a:r>
          </a:p>
          <a:p>
            <a:pPr marL="514350" indent="-514350">
              <a:buFont typeface="+mj-lt"/>
              <a:buAutoNum type="romanLcPeriod" startAt="3"/>
            </a:pPr>
            <a:r>
              <a:rPr lang="en-US" sz="2000" i="1" dirty="0">
                <a:latin typeface="Arial" panose="020B0604020202020204" pitchFamily="34" charset="0"/>
                <a:cs typeface="Arial" panose="020B0604020202020204" pitchFamily="34" charset="0"/>
              </a:rPr>
              <a:t>Speed Layer</a:t>
            </a:r>
          </a:p>
          <a:p>
            <a:pPr marL="457200" lvl="1" indent="0">
              <a:buNone/>
            </a:pP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The Speed Layer enables low-latency, real-time traffic inference.</a:t>
            </a:r>
          </a:p>
          <a:p>
            <a:pPr lvl="1"/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Prioritizes processing speed over historical completeness.</a:t>
            </a:r>
          </a:p>
          <a:p>
            <a:pPr lvl="1"/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Consumes live telemetry and generates immediate predictions.</a:t>
            </a:r>
          </a:p>
          <a:p>
            <a:pPr marL="457200" lvl="1" indent="0">
              <a:buNone/>
            </a:pPr>
            <a:r>
              <a:rPr lang="en-US" sz="1800" b="1" dirty="0">
                <a:latin typeface="Arial" panose="020B0604020202020204" pitchFamily="34" charset="0"/>
                <a:cs typeface="Arial" panose="020B0604020202020204" pitchFamily="34" charset="0"/>
              </a:rPr>
              <a:t>Real-time Processing:</a:t>
            </a:r>
          </a:p>
          <a:p>
            <a:pPr lvl="1"/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Real-Time Ingestion: Telemetry sent via asynchronous HTTP POST from dashboard. </a:t>
            </a:r>
          </a:p>
          <a:p>
            <a:pPr lvl="1"/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Feature Reconstruction and Alignment: </a:t>
            </a:r>
          </a:p>
          <a:p>
            <a:pPr lvl="2">
              <a:buFontTx/>
              <a:buChar char="-"/>
            </a:pP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Approximation of rolling statistics and lag features.</a:t>
            </a:r>
          </a:p>
          <a:p>
            <a:pPr lvl="2">
              <a:buFontTx/>
              <a:buChar char="-"/>
            </a:pP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Dynamic OHE for sensors.</a:t>
            </a:r>
          </a:p>
          <a:p>
            <a:pPr lvl="2">
              <a:buFontTx/>
              <a:buChar char="-"/>
            </a:pP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Reconstruction of cyclical and binary temporal features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4AFA095-C66C-9815-D4D2-09AEF914B7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91505" y="2191852"/>
            <a:ext cx="4652495" cy="29897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961137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BA7535-F456-58C0-6B09-7BB7CE0B5A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B15FF38-2602-A136-E671-F25D0D994F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20</a:t>
            </a:fld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30D1C422-703C-BC75-5936-F23F327E77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2. Architecture and Design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4FF101A-C537-F2B8-185D-DA773F89B138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234823" y="887285"/>
            <a:ext cx="8689960" cy="2663953"/>
          </a:xfrm>
        </p:spPr>
        <p:txBody>
          <a:bodyPr lIns="91440" tIns="45720" rIns="91440" bIns="45720" anchor="t"/>
          <a:lstStyle/>
          <a:p>
            <a:pPr marL="0" indent="0">
              <a:buNone/>
            </a:pPr>
            <a:r>
              <a:rPr lang="en-US" sz="2200" b="1" i="1" dirty="0">
                <a:latin typeface="Arial" panose="020B0604020202020204" pitchFamily="34" charset="0"/>
                <a:ea typeface="Lato"/>
                <a:cs typeface="Arial" panose="020B0604020202020204" pitchFamily="34" charset="0"/>
              </a:rPr>
              <a:t>2.2. System Design</a:t>
            </a:r>
          </a:p>
          <a:p>
            <a:pPr marL="514350" indent="-514350">
              <a:buFont typeface="+mj-lt"/>
              <a:buAutoNum type="romanLcPeriod" startAt="3"/>
            </a:pPr>
            <a:r>
              <a:rPr lang="en-US" sz="2000" i="1" dirty="0">
                <a:latin typeface="Arial" panose="020B0604020202020204" pitchFamily="34" charset="0"/>
                <a:cs typeface="Arial" panose="020B0604020202020204" pitchFamily="34" charset="0"/>
              </a:rPr>
              <a:t>Speed Layer:</a:t>
            </a:r>
          </a:p>
          <a:p>
            <a:pPr marL="457200" lvl="1" indent="0">
              <a:buNone/>
            </a:pPr>
            <a:r>
              <a:rPr lang="en-US" sz="1800" b="1" dirty="0">
                <a:latin typeface="Arial" panose="020B0604020202020204" pitchFamily="34" charset="0"/>
                <a:cs typeface="Arial" panose="020B0604020202020204" pitchFamily="34" charset="0"/>
              </a:rPr>
              <a:t>Inference &amp; Classification:</a:t>
            </a:r>
          </a:p>
          <a:p>
            <a:pPr lvl="1"/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Online Inference: Pre-loaded model executes real-time predictions.</a:t>
            </a:r>
          </a:p>
          <a:p>
            <a:pPr lvl="1"/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Predictive Constraints: Speed values clipped to realistic range (0–100). </a:t>
            </a:r>
          </a:p>
          <a:p>
            <a:pPr lvl="1"/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Congestion Classification: 15-minute smoothed median speed mapped to HIGH / MEDIUM / LOW levels.</a:t>
            </a:r>
          </a:p>
          <a:p>
            <a:pPr marL="457200" lvl="1" indent="0">
              <a:buNone/>
            </a:pPr>
            <a:r>
              <a:rPr lang="en-US" sz="1800" b="1" dirty="0">
                <a:latin typeface="Arial" panose="020B0604020202020204" pitchFamily="34" charset="0"/>
                <a:cs typeface="Arial" panose="020B0604020202020204" pitchFamily="34" charset="0"/>
              </a:rPr>
              <a:t>Speed Layer Deliverables:</a:t>
            </a:r>
          </a:p>
          <a:p>
            <a:pPr lvl="1"/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Near real-time speed predictions.</a:t>
            </a:r>
          </a:p>
          <a:p>
            <a:pPr lvl="1"/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Categorical congestion labels.</a:t>
            </a:r>
          </a:p>
          <a:p>
            <a:pPr lvl="1"/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Standardized JSON responses for visualization.</a:t>
            </a:r>
          </a:p>
        </p:txBody>
      </p:sp>
    </p:spTree>
    <p:extLst>
      <p:ext uri="{BB962C8B-B14F-4D97-AF65-F5344CB8AC3E}">
        <p14:creationId xmlns:p14="http://schemas.microsoft.com/office/powerpoint/2010/main" val="156887553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C9A9A7-AB74-77B5-86EB-5D2491E471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CAA088C-CFBF-B068-1C90-554DE59B4C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21</a:t>
            </a:fld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53FC6A4A-0960-8813-3587-4B00EF5E7D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3. Implementation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95ED5A3-E420-734C-85AC-ACA3B31378C1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234823" y="887285"/>
            <a:ext cx="8689960" cy="2663953"/>
          </a:xfrm>
        </p:spPr>
        <p:txBody>
          <a:bodyPr lIns="91440" tIns="45720" rIns="91440" bIns="45720" anchor="t"/>
          <a:lstStyle/>
          <a:p>
            <a:pPr marL="0" indent="0">
              <a:buNone/>
            </a:pPr>
            <a:r>
              <a:rPr lang="en-US" sz="2200" b="1" i="1" dirty="0">
                <a:latin typeface="Arial" panose="020B0604020202020204" pitchFamily="34" charset="0"/>
                <a:ea typeface="Lato"/>
                <a:cs typeface="Arial" panose="020B0604020202020204" pitchFamily="34" charset="0"/>
              </a:rPr>
              <a:t>3.1. Hardware Specifications and Execution Environment</a:t>
            </a:r>
          </a:p>
          <a:p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Windows 64-bit operating system.</a:t>
            </a:r>
          </a:p>
          <a:p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Multi-core CPU, 16GB RAM.</a:t>
            </a:r>
          </a:p>
          <a:p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SSD storage for high-speed Parquet read/write.</a:t>
            </a:r>
          </a:p>
          <a:p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Spark (Local Mode), Kafka,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FastAPI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Streamlit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running concurrently.</a:t>
            </a:r>
          </a:p>
          <a:p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n-US" sz="2200" b="1" i="1" dirty="0">
                <a:latin typeface="Arial" panose="020B0604020202020204" pitchFamily="34" charset="0"/>
                <a:ea typeface="Lato"/>
                <a:cs typeface="Arial" panose="020B0604020202020204" pitchFamily="34" charset="0"/>
              </a:rPr>
              <a:t>3.2. Data Ingestion and Simulation Strategy</a:t>
            </a:r>
          </a:p>
          <a:p>
            <a:pPr marL="0" indent="0">
              <a:buNone/>
            </a:pPr>
            <a:r>
              <a:rPr lang="en-US" sz="2000" dirty="0">
                <a:latin typeface="Arial" panose="020B0604020202020204" pitchFamily="34" charset="0"/>
                <a:ea typeface="Lato"/>
                <a:cs typeface="Arial" panose="020B0604020202020204" pitchFamily="34" charset="0"/>
              </a:rPr>
              <a:t>Data ingestion is based on a controlled simulation approach to ensure consistency.</a:t>
            </a:r>
          </a:p>
          <a:p>
            <a:r>
              <a:rPr lang="en-US" sz="2000" dirty="0">
                <a:latin typeface="Arial" panose="020B0604020202020204" pitchFamily="34" charset="0"/>
                <a:ea typeface="Lato"/>
                <a:cs typeface="Arial" panose="020B0604020202020204" pitchFamily="34" charset="0"/>
              </a:rPr>
              <a:t>Synthetic traffic data generation.</a:t>
            </a:r>
          </a:p>
          <a:p>
            <a:r>
              <a:rPr lang="en-US" sz="2000" dirty="0">
                <a:latin typeface="Arial" panose="020B0604020202020204" pitchFamily="34" charset="0"/>
                <a:ea typeface="Lato"/>
                <a:cs typeface="Arial" panose="020B0604020202020204" pitchFamily="34" charset="0"/>
              </a:rPr>
              <a:t>Unified schema: Sensor ID, Speed value, Unix timestamp.</a:t>
            </a:r>
          </a:p>
          <a:p>
            <a:r>
              <a:rPr lang="en-US" sz="2000" dirty="0">
                <a:latin typeface="Arial" panose="020B0604020202020204" pitchFamily="34" charset="0"/>
                <a:ea typeface="Lato"/>
                <a:cs typeface="Arial" panose="020B0604020202020204" pitchFamily="34" charset="0"/>
              </a:rPr>
              <a:t>Avoids instability of public traffic APIs.</a:t>
            </a:r>
          </a:p>
          <a:p>
            <a:r>
              <a:rPr lang="en-US" sz="2000" dirty="0">
                <a:latin typeface="Arial" panose="020B0604020202020204" pitchFamily="34" charset="0"/>
                <a:ea typeface="Lato"/>
                <a:cs typeface="Arial" panose="020B0604020202020204" pitchFamily="34" charset="0"/>
              </a:rPr>
              <a:t>Ensures repeatable and idempotent experiments.</a:t>
            </a:r>
          </a:p>
          <a:p>
            <a:pPr marL="0" indent="0">
              <a:buNone/>
            </a:pPr>
            <a:endParaRPr lang="en-US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1964536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B61251-9098-90A0-C4AD-EF098A4DAE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8D1F6FB-9E76-965C-DB62-1CE827DD38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22</a:t>
            </a:fld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1762B229-CA72-0C78-A8F6-0EA01DB51D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3. Implementation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7C2C7C4-925F-453E-FD02-AFBFD2A15DD7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35603" y="887285"/>
            <a:ext cx="9007500" cy="2663953"/>
          </a:xfrm>
        </p:spPr>
        <p:txBody>
          <a:bodyPr lIns="91440" tIns="45720" rIns="91440" bIns="45720" numCol="2" anchor="t"/>
          <a:lstStyle/>
          <a:p>
            <a:pPr marL="0" indent="0">
              <a:buNone/>
            </a:pPr>
            <a:r>
              <a:rPr lang="en-US" sz="2200" b="1" i="1" dirty="0">
                <a:latin typeface="Arial" panose="020B0604020202020204" pitchFamily="34" charset="0"/>
                <a:ea typeface="Lato"/>
                <a:cs typeface="Arial" panose="020B0604020202020204" pitchFamily="34" charset="0"/>
              </a:rPr>
              <a:t>3.3. Service Decoupling and Deployment</a:t>
            </a:r>
          </a:p>
          <a:p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Apache Kafka as message broker.</a:t>
            </a:r>
          </a:p>
          <a:p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Spark Structured Streaming for processing.</a:t>
            </a:r>
          </a:p>
          <a:p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FastAPI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(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Uvicorn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) for serving.</a:t>
            </a:r>
          </a:p>
          <a:p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Streamlit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for user interface.</a:t>
            </a:r>
          </a:p>
          <a:p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Communication via REST APIs and Kafka topics.</a:t>
            </a:r>
          </a:p>
          <a:p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Fault isolation between components.</a:t>
            </a:r>
          </a:p>
          <a:p>
            <a:pPr marL="0" indent="0">
              <a:buNone/>
            </a:pPr>
            <a:r>
              <a:rPr lang="en-US" sz="2200" b="1" i="1" dirty="0">
                <a:latin typeface="Arial" panose="020B0604020202020204" pitchFamily="34" charset="0"/>
                <a:ea typeface="Lato"/>
                <a:cs typeface="Arial" panose="020B0604020202020204" pitchFamily="34" charset="0"/>
              </a:rPr>
              <a:t>3.4. Batch Layer Implementation</a:t>
            </a:r>
          </a:p>
          <a:p>
            <a:pPr marL="0" indent="0">
              <a:buNone/>
            </a:pPr>
            <a:r>
              <a:rPr lang="en-US" sz="2000" dirty="0">
                <a:latin typeface="Arial" panose="020B0604020202020204" pitchFamily="34" charset="0"/>
                <a:ea typeface="Lato"/>
                <a:cs typeface="Arial" panose="020B0604020202020204" pitchFamily="34" charset="0"/>
              </a:rPr>
              <a:t>The Batch Layer represents the cold path of the system.</a:t>
            </a:r>
          </a:p>
          <a:p>
            <a:r>
              <a:rPr lang="en-US" sz="2000" dirty="0">
                <a:latin typeface="Arial" panose="020B0604020202020204" pitchFamily="34" charset="0"/>
                <a:ea typeface="Lato"/>
                <a:cs typeface="Arial" panose="020B0604020202020204" pitchFamily="34" charset="0"/>
              </a:rPr>
              <a:t>Processes historical traffic data.</a:t>
            </a:r>
          </a:p>
          <a:p>
            <a:r>
              <a:rPr lang="en-US" sz="2000" dirty="0">
                <a:latin typeface="Arial" panose="020B0604020202020204" pitchFamily="34" charset="0"/>
                <a:ea typeface="Lato"/>
                <a:cs typeface="Arial" panose="020B0604020202020204" pitchFamily="34" charset="0"/>
              </a:rPr>
              <a:t>Spark consumes data from Kafka. </a:t>
            </a:r>
          </a:p>
          <a:p>
            <a:r>
              <a:rPr lang="en-US" sz="2000" dirty="0">
                <a:latin typeface="Arial" panose="020B0604020202020204" pitchFamily="34" charset="0"/>
                <a:ea typeface="Lato"/>
                <a:cs typeface="Arial" panose="020B0604020202020204" pitchFamily="34" charset="0"/>
              </a:rPr>
              <a:t>Data persisted into Bronze Layer.</a:t>
            </a:r>
          </a:p>
          <a:p>
            <a:r>
              <a:rPr lang="en-US" sz="2000" dirty="0">
                <a:latin typeface="Arial" panose="020B0604020202020204" pitchFamily="34" charset="0"/>
                <a:ea typeface="Lato"/>
                <a:cs typeface="Arial" panose="020B0604020202020204" pitchFamily="34" charset="0"/>
              </a:rPr>
              <a:t>Append-only Parquet format.</a:t>
            </a:r>
          </a:p>
          <a:p>
            <a:r>
              <a:rPr lang="en-US" sz="2000" dirty="0">
                <a:latin typeface="Arial" panose="020B0604020202020204" pitchFamily="34" charset="0"/>
                <a:ea typeface="Lato"/>
                <a:cs typeface="Arial" panose="020B0604020202020204" pitchFamily="34" charset="0"/>
              </a:rPr>
              <a:t>Raw data preserved for reprocessing.</a:t>
            </a:r>
            <a:endParaRPr lang="en-US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4255654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83746E-940A-A9CA-DE35-38CAEB0059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9A288EB-3E88-01FA-4D7F-B7A2F18C36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23</a:t>
            </a:fld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481D43E-EEEC-9223-C993-2BD48B26A5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3. Implementation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A5DB7438-D097-731A-8D96-BE5A848BE72A}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>
          <a:blip r:embed="rId2"/>
          <a:stretch>
            <a:fillRect/>
          </a:stretch>
        </p:blipFill>
        <p:spPr>
          <a:xfrm>
            <a:off x="1929470" y="1010854"/>
            <a:ext cx="5120259" cy="51525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564802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AA9E9A-4124-8765-E001-0FC058C81A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47BFDF0-4343-E14D-DCD5-BE21C5A256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24</a:t>
            </a:fld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1536E722-A354-DB74-652D-F73DFD8DF4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4. Results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557CE32-98AB-069C-D29B-392FD3CD55F1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234823" y="887285"/>
            <a:ext cx="8689960" cy="2663953"/>
          </a:xfrm>
        </p:spPr>
        <p:txBody>
          <a:bodyPr lIns="91440" tIns="45720" rIns="91440" bIns="45720" anchor="t"/>
          <a:lstStyle/>
          <a:p>
            <a:pPr marL="0" indent="0">
              <a:buNone/>
            </a:pPr>
            <a:r>
              <a:rPr lang="en-US" sz="2200" b="1" i="1" dirty="0">
                <a:latin typeface="Arial" panose="020B0604020202020204" pitchFamily="34" charset="0"/>
                <a:ea typeface="Lato"/>
                <a:cs typeface="Arial" panose="020B0604020202020204" pitchFamily="34" charset="0"/>
              </a:rPr>
              <a:t>3.1. </a:t>
            </a:r>
            <a:r>
              <a:rPr lang="en-US" sz="2200" b="1" dirty="0">
                <a:latin typeface="Arial" panose="020B0604020202020204" pitchFamily="34" charset="0"/>
                <a:cs typeface="Arial" panose="020B0604020202020204" pitchFamily="34" charset="0"/>
              </a:rPr>
              <a:t>System Performance and Functional Outcomes </a:t>
            </a:r>
          </a:p>
          <a:p>
            <a:pPr marL="0" indent="0">
              <a:buNone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The system demonstrates the effectiveness of a Lambda-inspired architecture for traffic analytics:</a:t>
            </a:r>
          </a:p>
          <a:p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Kafka ingestion handles high-velocity data without message loss.</a:t>
            </a:r>
          </a:p>
          <a:p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Bronze layer persists data with low latency.</a:t>
            </a:r>
          </a:p>
          <a:p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Speed Layer delivers sub-millisecond inference.</a:t>
            </a:r>
          </a:p>
          <a:p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Real-time congestion insights available on dashboard.</a:t>
            </a:r>
          </a:p>
          <a:p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PyDeck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visualizes predictions as geospatial heatmaps.</a:t>
            </a:r>
          </a:p>
          <a:p>
            <a:pPr marL="0" indent="0">
              <a:buNone/>
            </a:pPr>
            <a:endParaRPr lang="en-US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0624279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23F8D8-2C64-066B-3E78-64E158627D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C5F5087-C01F-577A-DFA9-8F14EA5A69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25</a:t>
            </a:fld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FEFAE052-C2EA-D0A0-66E5-58863F7AC4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4. Results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D1C3251-E3D0-FB35-B3D3-38FBA7A1AAC7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234823" y="887285"/>
            <a:ext cx="8689960" cy="2663953"/>
          </a:xfrm>
        </p:spPr>
        <p:txBody>
          <a:bodyPr lIns="91440" tIns="45720" rIns="91440" bIns="45720" anchor="t"/>
          <a:lstStyle/>
          <a:p>
            <a:pPr marL="0" indent="0">
              <a:buNone/>
            </a:pPr>
            <a:r>
              <a:rPr lang="en-US" sz="2200" b="1" i="1" dirty="0">
                <a:latin typeface="Arial" panose="020B0604020202020204" pitchFamily="34" charset="0"/>
                <a:ea typeface="Lato"/>
                <a:cs typeface="Arial" panose="020B0604020202020204" pitchFamily="34" charset="0"/>
              </a:rPr>
              <a:t>3.2. </a:t>
            </a:r>
            <a:r>
              <a:rPr lang="en-US" sz="2200" b="1" dirty="0">
                <a:latin typeface="Arial" panose="020B0604020202020204" pitchFamily="34" charset="0"/>
                <a:cs typeface="Arial" panose="020B0604020202020204" pitchFamily="34" charset="0"/>
              </a:rPr>
              <a:t>Architectural Evaluation and Lessons Learned</a:t>
            </a:r>
          </a:p>
          <a:p>
            <a:pPr marL="0" indent="0">
              <a:buNone/>
            </a:pPr>
            <a:r>
              <a:rPr lang="en-US" sz="1800" b="1" i="1" dirty="0">
                <a:latin typeface="Arial" panose="020B0604020202020204" pitchFamily="34" charset="0"/>
                <a:cs typeface="Arial" panose="020B0604020202020204" pitchFamily="34" charset="0"/>
              </a:rPr>
              <a:t>Data Ingestion and Quality: 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The project highlights the importance of data quality at ingestion time.</a:t>
            </a:r>
          </a:p>
          <a:p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Real-world telemetry is noisy and inconsistent.</a:t>
            </a:r>
          </a:p>
          <a:p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Data sanitization is most effective at the Bronze layer.</a:t>
            </a:r>
          </a:p>
          <a:p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Cleaning data early reduces training complexity.</a:t>
            </a:r>
          </a:p>
          <a:p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Medallion Architecture supports data versioning.</a:t>
            </a:r>
          </a:p>
          <a:p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Raw data can be reprocessed when schema changes</a:t>
            </a:r>
          </a:p>
          <a:p>
            <a:pPr marL="0" indent="0">
              <a:buNone/>
            </a:pPr>
            <a:r>
              <a:rPr lang="en-US" sz="1800" b="1" i="1" dirty="0">
                <a:latin typeface="Arial" panose="020B0604020202020204" pitchFamily="34" charset="0"/>
                <a:cs typeface="Arial" panose="020B0604020202020204" pitchFamily="34" charset="0"/>
              </a:rPr>
              <a:t>Stream Processing and State Management: 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Stream processing introduces challenges in handling temporal state.</a:t>
            </a:r>
          </a:p>
          <a:p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Speed Layer uses stateless feature reconstruction</a:t>
            </a:r>
          </a:p>
          <a:p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Rolling features are approximated to reduce memory usage</a:t>
            </a:r>
          </a:p>
          <a:p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Design simplifies real-time processing</a:t>
            </a:r>
          </a:p>
          <a:p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Future systems should support exactly-once semantics</a:t>
            </a:r>
          </a:p>
          <a:p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Prevents duplicated Kafka events from skewing predictions</a:t>
            </a:r>
          </a:p>
        </p:txBody>
      </p:sp>
    </p:spTree>
    <p:extLst>
      <p:ext uri="{BB962C8B-B14F-4D97-AF65-F5344CB8AC3E}">
        <p14:creationId xmlns:p14="http://schemas.microsoft.com/office/powerpoint/2010/main" val="199788014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B4073A-19DC-3223-B06A-12B27735AE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AE45AAD-13B4-6803-83A3-02280F3432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26</a:t>
            </a:fld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FE3E33E9-CD89-23FA-A75E-399974889F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4. Results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D0B6C76-432A-14E9-B95F-45C384336B8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235077" y="887285"/>
            <a:ext cx="8689960" cy="2663953"/>
          </a:xfrm>
        </p:spPr>
        <p:txBody>
          <a:bodyPr lIns="91440" tIns="45720" rIns="91440" bIns="45720" anchor="t"/>
          <a:lstStyle/>
          <a:p>
            <a:pPr marL="0" indent="0">
              <a:buNone/>
            </a:pPr>
            <a:r>
              <a:rPr lang="en-US" sz="2200" b="1" i="1" dirty="0">
                <a:latin typeface="Arial" panose="020B0604020202020204" pitchFamily="34" charset="0"/>
                <a:ea typeface="Lato"/>
                <a:cs typeface="Arial" panose="020B0604020202020204" pitchFamily="34" charset="0"/>
              </a:rPr>
              <a:t>3.2. </a:t>
            </a:r>
            <a:r>
              <a:rPr lang="en-US" sz="2200" b="1" dirty="0">
                <a:latin typeface="Arial" panose="020B0604020202020204" pitchFamily="34" charset="0"/>
                <a:cs typeface="Arial" panose="020B0604020202020204" pitchFamily="34" charset="0"/>
              </a:rPr>
              <a:t>Architectural Evaluation and Lessons Learned</a:t>
            </a:r>
          </a:p>
          <a:p>
            <a:pPr marL="0" indent="0">
              <a:buNone/>
            </a:pPr>
            <a:r>
              <a:rPr lang="en-US" sz="1800" b="1" i="1" dirty="0">
                <a:latin typeface="Arial" panose="020B0604020202020204" pitchFamily="34" charset="0"/>
                <a:cs typeface="Arial" panose="020B0604020202020204" pitchFamily="34" charset="0"/>
              </a:rPr>
              <a:t>Fault Tolerance and Integration: 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Decoupled services improve system reliability. </a:t>
            </a:r>
          </a:p>
          <a:p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Kafka buffers data between services.</a:t>
            </a:r>
          </a:p>
          <a:p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Ingestion continues during inference outages.</a:t>
            </a:r>
          </a:p>
          <a:p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Bronze layer preserves data without interruption.</a:t>
            </a:r>
          </a:p>
          <a:p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Faults do not cascade across the pipeline.</a:t>
            </a:r>
          </a:p>
          <a:p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Supports high-availability design. </a:t>
            </a:r>
          </a:p>
          <a:p>
            <a:pPr marL="0" indent="0">
              <a:buNone/>
            </a:pPr>
            <a:r>
              <a:rPr lang="en-US" sz="1800" b="1" i="1" dirty="0">
                <a:latin typeface="Arial" panose="020B0604020202020204" pitchFamily="34" charset="0"/>
                <a:cs typeface="Arial" panose="020B0604020202020204" pitchFamily="34" charset="0"/>
              </a:rPr>
              <a:t>Monitoring and Bottleneck Identification: 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Performance optimization requires iterative monitoring. </a:t>
            </a:r>
          </a:p>
          <a:p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Spark memory usage is a critical factor</a:t>
            </a:r>
          </a:p>
          <a:p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CPU alone is not the main bottleneck</a:t>
            </a:r>
          </a:p>
          <a:p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Partition tuning improves execution time</a:t>
            </a:r>
          </a:p>
          <a:p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Caching frequently used </a:t>
            </a:r>
            <a:r>
              <a:rPr lang="en-US" sz="1800" dirty="0" err="1">
                <a:latin typeface="Arial" panose="020B0604020202020204" pitchFamily="34" charset="0"/>
                <a:cs typeface="Arial" panose="020B0604020202020204" pitchFamily="34" charset="0"/>
              </a:rPr>
              <a:t>DataFrames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 reduces latency </a:t>
            </a:r>
          </a:p>
          <a:p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Batch processing time reduced from minutes to seconds</a:t>
            </a:r>
          </a:p>
        </p:txBody>
      </p:sp>
    </p:spTree>
    <p:extLst>
      <p:ext uri="{BB962C8B-B14F-4D97-AF65-F5344CB8AC3E}">
        <p14:creationId xmlns:p14="http://schemas.microsoft.com/office/powerpoint/2010/main" val="359085284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1BA886-E755-735C-6193-684AC47E9A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0CD6F64-5DD1-CE2D-2305-F753E712B0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27</a:t>
            </a:fld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844A8726-CE77-9D49-7318-8BC12C333C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4. Results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C31448E-7C59-E631-558F-74EB3B0DEE8C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235077" y="887285"/>
            <a:ext cx="8689960" cy="2663953"/>
          </a:xfrm>
        </p:spPr>
        <p:txBody>
          <a:bodyPr lIns="91440" tIns="45720" rIns="91440" bIns="45720" anchor="t"/>
          <a:lstStyle/>
          <a:p>
            <a:pPr marL="0" indent="0">
              <a:buNone/>
            </a:pPr>
            <a:r>
              <a:rPr lang="en-US" sz="2200" b="1" i="1" dirty="0">
                <a:latin typeface="Arial" panose="020B0604020202020204" pitchFamily="34" charset="0"/>
                <a:ea typeface="Lato"/>
                <a:cs typeface="Arial" panose="020B0604020202020204" pitchFamily="34" charset="0"/>
              </a:rPr>
              <a:t>3.2. </a:t>
            </a:r>
            <a:r>
              <a:rPr lang="en-US" sz="2200" b="1" dirty="0">
                <a:latin typeface="Arial" panose="020B0604020202020204" pitchFamily="34" charset="0"/>
                <a:cs typeface="Arial" panose="020B0604020202020204" pitchFamily="34" charset="0"/>
              </a:rPr>
              <a:t>Architectural Evaluation and Lessons Learned</a:t>
            </a:r>
          </a:p>
          <a:p>
            <a:pPr marL="0" indent="0">
              <a:buNone/>
            </a:pPr>
            <a:r>
              <a:rPr lang="en-US" sz="1800" b="1" i="1" dirty="0">
                <a:latin typeface="Arial" panose="020B0604020202020204" pitchFamily="34" charset="0"/>
                <a:cs typeface="Arial" panose="020B0604020202020204" pitchFamily="34" charset="0"/>
              </a:rPr>
              <a:t>Stream Processing and State Management:</a:t>
            </a:r>
            <a:r>
              <a:rPr lang="en-US" sz="1800" i="1" dirty="0">
                <a:latin typeface="Arial" panose="020B0604020202020204" pitchFamily="34" charset="0"/>
                <a:cs typeface="Arial" panose="020B0604020202020204" pitchFamily="34" charset="0"/>
              </a:rPr>
              <a:t> introduces challenges in handling temporal state.</a:t>
            </a:r>
          </a:p>
          <a:p>
            <a:r>
              <a:rPr lang="en-US" sz="1800" i="1" dirty="0">
                <a:latin typeface="Arial" panose="020B0604020202020204" pitchFamily="34" charset="0"/>
                <a:cs typeface="Arial" panose="020B0604020202020204" pitchFamily="34" charset="0"/>
              </a:rPr>
              <a:t>Speed Layer uses stateless feature reconstruction.</a:t>
            </a:r>
          </a:p>
          <a:p>
            <a:r>
              <a:rPr lang="en-US" sz="1800" i="1" dirty="0">
                <a:latin typeface="Arial" panose="020B0604020202020204" pitchFamily="34" charset="0"/>
                <a:cs typeface="Arial" panose="020B0604020202020204" pitchFamily="34" charset="0"/>
              </a:rPr>
              <a:t>Rolling features are approximated to reduce memory usage.</a:t>
            </a:r>
          </a:p>
          <a:p>
            <a:r>
              <a:rPr lang="en-US" sz="1800" i="1" dirty="0">
                <a:latin typeface="Arial" panose="020B0604020202020204" pitchFamily="34" charset="0"/>
                <a:cs typeface="Arial" panose="020B0604020202020204" pitchFamily="34" charset="0"/>
              </a:rPr>
              <a:t>Design simplifies real-time processing.</a:t>
            </a:r>
          </a:p>
          <a:p>
            <a:r>
              <a:rPr lang="en-US" sz="1800" i="1" dirty="0">
                <a:latin typeface="Arial" panose="020B0604020202020204" pitchFamily="34" charset="0"/>
                <a:cs typeface="Arial" panose="020B0604020202020204" pitchFamily="34" charset="0"/>
              </a:rPr>
              <a:t>Future systems should support exactly-once semantics.</a:t>
            </a:r>
          </a:p>
          <a:p>
            <a:r>
              <a:rPr lang="en-US" sz="1800" i="1" dirty="0">
                <a:latin typeface="Arial" panose="020B0604020202020204" pitchFamily="34" charset="0"/>
                <a:cs typeface="Arial" panose="020B0604020202020204" pitchFamily="34" charset="0"/>
              </a:rPr>
              <a:t>Prevents duplicated Kafka events from skewing predictions.</a:t>
            </a:r>
          </a:p>
          <a:p>
            <a:pPr marL="0" indent="0">
              <a:buNone/>
            </a:pPr>
            <a:r>
              <a:rPr lang="en-US" sz="1800" b="1" i="1" dirty="0">
                <a:latin typeface="Arial" panose="020B0604020202020204" pitchFamily="34" charset="0"/>
                <a:cs typeface="Arial" panose="020B0604020202020204" pitchFamily="34" charset="0"/>
              </a:rPr>
              <a:t>Storage Formats and Partitioning: 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strongly impacts analytical performance. </a:t>
            </a:r>
          </a:p>
          <a:p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Apache Parquet validated for batch analytics.</a:t>
            </a:r>
          </a:p>
          <a:p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Columnar format enables predicate pushdown.</a:t>
            </a:r>
          </a:p>
          <a:p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Faster reads in Spark batch jobs.</a:t>
            </a:r>
          </a:p>
          <a:p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Partitioning by date or sensor improves query efficiency.</a:t>
            </a:r>
          </a:p>
          <a:p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Supports hot vs cold data separation.</a:t>
            </a:r>
          </a:p>
        </p:txBody>
      </p:sp>
    </p:spTree>
    <p:extLst>
      <p:ext uri="{BB962C8B-B14F-4D97-AF65-F5344CB8AC3E}">
        <p14:creationId xmlns:p14="http://schemas.microsoft.com/office/powerpoint/2010/main" val="376807546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3CC360-E03A-E509-9874-4209EAAFD1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606FB5E-2A59-628D-7D1F-111409ECE3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28</a:t>
            </a:fld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7BD3A98D-246F-6C12-5CD4-EE92F2B5DD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5. Conclusion</a:t>
            </a: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78FA1355-27E7-AECD-5888-875ACA90CF60}"/>
              </a:ext>
            </a:extLst>
          </p:cNvPr>
          <p:cNvSpPr>
            <a:spLocks noGrp="1" noChangeArrowheads="1"/>
          </p:cNvSpPr>
          <p:nvPr>
            <p:ph sz="quarter" idx="13"/>
          </p:nvPr>
        </p:nvSpPr>
        <p:spPr bwMode="auto">
          <a:xfrm>
            <a:off x="234951" y="884279"/>
            <a:ext cx="8142134" cy="31393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project implements a Lambda-inspired Big Data platform for urban traffic analytics.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Batch and stream processing are effectively combined for historical and real-time insights.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Kafka and Spark enable scalable ingestion and processing of traffic telemetry.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Machine learning models transform raw data into actionable traffic predictions.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Real-time dashboards support proactive congestion management.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system design ensures fault tolerance and reliable data access.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platform contributes to efficient and sustainable urban transportation.</a:t>
            </a:r>
          </a:p>
        </p:txBody>
      </p:sp>
    </p:spTree>
    <p:extLst>
      <p:ext uri="{BB962C8B-B14F-4D97-AF65-F5344CB8AC3E}">
        <p14:creationId xmlns:p14="http://schemas.microsoft.com/office/powerpoint/2010/main" val="22210923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A37B5C8-2095-4D2D-97FE-E4E8D89379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29</a:t>
            </a:fld>
            <a:endParaRPr lang="en-US"/>
          </a:p>
        </p:txBody>
      </p:sp>
      <p:sp>
        <p:nvSpPr>
          <p:cNvPr id="3" name="Title 10">
            <a:extLst>
              <a:ext uri="{FF2B5EF4-FFF2-40B4-BE49-F238E27FC236}">
                <a16:creationId xmlns:a16="http://schemas.microsoft.com/office/drawing/2014/main" id="{F78B3876-6ECC-4098-BDD1-C48CE4B42721}"/>
              </a:ext>
            </a:extLst>
          </p:cNvPr>
          <p:cNvSpPr txBox="1">
            <a:spLocks/>
          </p:cNvSpPr>
          <p:nvPr/>
        </p:nvSpPr>
        <p:spPr>
          <a:xfrm>
            <a:off x="4181094" y="3021991"/>
            <a:ext cx="4197975" cy="814017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b="1" kern="1200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sz="4800"/>
              <a:t>THANK YOU !</a:t>
            </a:r>
          </a:p>
        </p:txBody>
      </p:sp>
    </p:spTree>
    <p:extLst>
      <p:ext uri="{BB962C8B-B14F-4D97-AF65-F5344CB8AC3E}">
        <p14:creationId xmlns:p14="http://schemas.microsoft.com/office/powerpoint/2010/main" val="283053568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FC198DC525AB0C498E66E801E0990E33" ma:contentTypeVersion="11" ma:contentTypeDescription="Create a new document." ma:contentTypeScope="" ma:versionID="8a5973debe8d66c763764b136f513c49">
  <xsd:schema xmlns:xsd="http://www.w3.org/2001/XMLSchema" xmlns:xs="http://www.w3.org/2001/XMLSchema" xmlns:p="http://schemas.microsoft.com/office/2006/metadata/properties" xmlns:ns3="734ad12e-f028-4e8d-9eec-fc3955d1bf94" targetNamespace="http://schemas.microsoft.com/office/2006/metadata/properties" ma:root="true" ma:fieldsID="6ccb87a52cd290ea308fc3d1ccb52e23" ns3:_="">
    <xsd:import namespace="734ad12e-f028-4e8d-9eec-fc3955d1bf94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ObjectDetectorVersions" minOccurs="0"/>
                <xsd:element ref="ns3:_activity" minOccurs="0"/>
                <xsd:element ref="ns3:MediaServiceSearchProperties" minOccurs="0"/>
                <xsd:element ref="ns3:MediaServiceDateTaken" minOccurs="0"/>
                <xsd:element ref="ns3:MediaServiceSystemTags" minOccurs="0"/>
                <xsd:element ref="ns3:MediaServiceGenerationTime" minOccurs="0"/>
                <xsd:element ref="ns3:MediaServiceEventHashCode" minOccurs="0"/>
                <xsd:element ref="ns3:MediaServiceOCR" minOccurs="0"/>
                <xsd:element ref="ns3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34ad12e-f028-4e8d-9eec-fc3955d1bf94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_activity" ma:index="11" nillable="true" ma:displayName="_activity" ma:hidden="true" ma:internalName="_activity">
      <xsd:simpleType>
        <xsd:restriction base="dms:Note"/>
      </xsd:simpleType>
    </xsd:element>
    <xsd:element name="MediaServiceSearchProperties" ma:index="12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3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SystemTags" ma:index="14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LengthInSeconds" ma:index="18" nillable="true" ma:displayName="MediaLengthInSeconds" ma:hidden="true" ma:internalName="MediaLengthInSeconds" ma:readOnly="tru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734ad12e-f028-4e8d-9eec-fc3955d1bf94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887C3D8E-C2D6-4B5D-B9D5-36FF15F95D88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34ad12e-f028-4e8d-9eec-fc3955d1bf94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74FFB3A5-3F0D-4952-AF78-C69636755ECB}">
  <ds:schemaRefs>
    <ds:schemaRef ds:uri="http://schemas.microsoft.com/office/2006/metadata/properties"/>
    <ds:schemaRef ds:uri="http://purl.org/dc/elements/1.1/"/>
    <ds:schemaRef ds:uri="http://schemas.microsoft.com/office/2006/documentManagement/types"/>
    <ds:schemaRef ds:uri="http://www.w3.org/XML/1998/namespace"/>
    <ds:schemaRef ds:uri="http://schemas.openxmlformats.org/package/2006/metadata/core-properties"/>
    <ds:schemaRef ds:uri="http://schemas.microsoft.com/office/infopath/2007/PartnerControls"/>
    <ds:schemaRef ds:uri="734ad12e-f028-4e8d-9eec-fc3955d1bf94"/>
    <ds:schemaRef ds:uri="http://purl.org/dc/dcmitype/"/>
    <ds:schemaRef ds:uri="http://purl.org/dc/terms/"/>
  </ds:schemaRefs>
</ds:datastoreItem>
</file>

<file path=customXml/itemProps3.xml><?xml version="1.0" encoding="utf-8"?>
<ds:datastoreItem xmlns:ds="http://schemas.openxmlformats.org/officeDocument/2006/customXml" ds:itemID="{4D1DE9DB-E6F8-442F-A52A-6CF3336A888B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NLP_proposal</Template>
  <TotalTime>1041</TotalTime>
  <Words>2324</Words>
  <Application>Microsoft Office PowerPoint</Application>
  <PresentationFormat>On-screen Show (4:3)</PresentationFormat>
  <Paragraphs>314</Paragraphs>
  <Slides>29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4" baseType="lpstr">
      <vt:lpstr>Arial</vt:lpstr>
      <vt:lpstr>Calibri</vt:lpstr>
      <vt:lpstr>Cambria Math</vt:lpstr>
      <vt:lpstr>Lato</vt:lpstr>
      <vt:lpstr>Office Theme</vt:lpstr>
      <vt:lpstr>PowerPoint Presentation</vt:lpstr>
      <vt:lpstr>PowerPoint Presentation</vt:lpstr>
      <vt:lpstr>1. Introduction</vt:lpstr>
      <vt:lpstr>1. Introduction</vt:lpstr>
      <vt:lpstr>2. Architecture and Design</vt:lpstr>
      <vt:lpstr>2. Architecture and Design</vt:lpstr>
      <vt:lpstr>2. Architecture and Design</vt:lpstr>
      <vt:lpstr>2. Architecture and Design</vt:lpstr>
      <vt:lpstr>2. Architecture and Design</vt:lpstr>
      <vt:lpstr>2. Architecture and Design</vt:lpstr>
      <vt:lpstr>2. Architecture and Design</vt:lpstr>
      <vt:lpstr>2. Architecture and Design</vt:lpstr>
      <vt:lpstr>2. Architecture and Design</vt:lpstr>
      <vt:lpstr>2. Architecture and Design</vt:lpstr>
      <vt:lpstr>2. Architecture and Design</vt:lpstr>
      <vt:lpstr>2. Architecture and Design</vt:lpstr>
      <vt:lpstr>2. Architecture and Design</vt:lpstr>
      <vt:lpstr>2. Architecture and Design</vt:lpstr>
      <vt:lpstr>2. Architecture and Design</vt:lpstr>
      <vt:lpstr>2. Architecture and Design</vt:lpstr>
      <vt:lpstr>3. Implementation</vt:lpstr>
      <vt:lpstr>3. Implementation</vt:lpstr>
      <vt:lpstr>3. Implementation</vt:lpstr>
      <vt:lpstr>4. Results</vt:lpstr>
      <vt:lpstr>4. Results</vt:lpstr>
      <vt:lpstr>4. Results</vt:lpstr>
      <vt:lpstr>4. Results</vt:lpstr>
      <vt:lpstr>5. Conclusion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Trinh Huynh Son 20225526</dc:creator>
  <cp:lastModifiedBy>Trinh Huynh Son 20225526</cp:lastModifiedBy>
  <cp:revision>52</cp:revision>
  <dcterms:created xsi:type="dcterms:W3CDTF">2025-03-31T12:40:17Z</dcterms:created>
  <dcterms:modified xsi:type="dcterms:W3CDTF">2025-12-28T13:57:49Z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0x010100FC198DC525AB0C498E66E801E0990E33</vt:lpwstr>
  </property>
</Properties>
</file>